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39" autoAdjust="0"/>
  </p:normalViewPr>
  <p:slideViewPr>
    <p:cSldViewPr snapToGrid="0" snapToObjects="1">
      <p:cViewPr>
        <p:scale>
          <a:sx n="125" d="100"/>
          <a:sy n="125" d="100"/>
        </p:scale>
        <p:origin x="101" y="1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6" name="Group 515">
            <a:extLst>
              <a:ext uri="{FF2B5EF4-FFF2-40B4-BE49-F238E27FC236}">
                <a16:creationId xmlns:a16="http://schemas.microsoft.com/office/drawing/2014/main" id="{FE74D4D5-E2AC-44DC-AE10-54B6FFF3E168}"/>
              </a:ext>
            </a:extLst>
          </p:cNvPr>
          <p:cNvGrpSpPr/>
          <p:nvPr/>
        </p:nvGrpSpPr>
        <p:grpSpPr>
          <a:xfrm>
            <a:off x="0" y="-29496"/>
            <a:ext cx="7562088" cy="10718832"/>
            <a:chOff x="0" y="-29496"/>
            <a:chExt cx="7562088" cy="10718832"/>
          </a:xfrm>
        </p:grpSpPr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2F74C29D-8259-46E1-8B67-0BDA60E0AF46}"/>
                </a:ext>
              </a:extLst>
            </p:cNvPr>
            <p:cNvGrpSpPr/>
            <p:nvPr/>
          </p:nvGrpSpPr>
          <p:grpSpPr>
            <a:xfrm>
              <a:off x="0" y="-29496"/>
              <a:ext cx="7562088" cy="10718832"/>
              <a:chOff x="0" y="-29496"/>
              <a:chExt cx="7562088" cy="10718832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0" y="0"/>
                <a:ext cx="7562088" cy="10689336"/>
              </a:xfrm>
              <a:prstGeom prst="rect">
                <a:avLst/>
              </a:prstGeom>
              <a:solidFill>
                <a:srgbClr val="04110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" name="Connector 2"/>
              <p:cNvCxnSpPr>
                <a:cxnSpLocks/>
              </p:cNvCxnSpPr>
              <p:nvPr/>
            </p:nvCxnSpPr>
            <p:spPr>
              <a:xfrm>
                <a:off x="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" name="Connector 3"/>
              <p:cNvCxnSpPr>
                <a:cxnSpLocks/>
              </p:cNvCxnSpPr>
              <p:nvPr/>
            </p:nvCxnSpPr>
            <p:spPr>
              <a:xfrm>
                <a:off x="914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Connector 4"/>
              <p:cNvCxnSpPr>
                <a:cxnSpLocks/>
              </p:cNvCxnSpPr>
              <p:nvPr/>
            </p:nvCxnSpPr>
            <p:spPr>
              <a:xfrm>
                <a:off x="1828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nector 5"/>
              <p:cNvCxnSpPr>
                <a:cxnSpLocks/>
              </p:cNvCxnSpPr>
              <p:nvPr/>
            </p:nvCxnSpPr>
            <p:spPr>
              <a:xfrm>
                <a:off x="2743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nector 6"/>
              <p:cNvCxnSpPr>
                <a:cxnSpLocks/>
              </p:cNvCxnSpPr>
              <p:nvPr/>
            </p:nvCxnSpPr>
            <p:spPr>
              <a:xfrm>
                <a:off x="3657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nector 7"/>
              <p:cNvCxnSpPr>
                <a:cxnSpLocks/>
              </p:cNvCxnSpPr>
              <p:nvPr/>
            </p:nvCxnSpPr>
            <p:spPr>
              <a:xfrm>
                <a:off x="4572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or 8"/>
              <p:cNvCxnSpPr>
                <a:cxnSpLocks/>
              </p:cNvCxnSpPr>
              <p:nvPr/>
            </p:nvCxnSpPr>
            <p:spPr>
              <a:xfrm>
                <a:off x="5486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 9"/>
              <p:cNvCxnSpPr>
                <a:cxnSpLocks/>
              </p:cNvCxnSpPr>
              <p:nvPr/>
            </p:nvCxnSpPr>
            <p:spPr>
              <a:xfrm>
                <a:off x="6400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 10"/>
              <p:cNvCxnSpPr>
                <a:cxnSpLocks/>
              </p:cNvCxnSpPr>
              <p:nvPr/>
            </p:nvCxnSpPr>
            <p:spPr>
              <a:xfrm>
                <a:off x="731520" y="-29496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 11"/>
              <p:cNvCxnSpPr>
                <a:cxnSpLocks/>
              </p:cNvCxnSpPr>
              <p:nvPr/>
            </p:nvCxnSpPr>
            <p:spPr>
              <a:xfrm>
                <a:off x="8229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 12"/>
              <p:cNvCxnSpPr>
                <a:cxnSpLocks/>
              </p:cNvCxnSpPr>
              <p:nvPr/>
            </p:nvCxnSpPr>
            <p:spPr>
              <a:xfrm>
                <a:off x="9144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 13"/>
              <p:cNvCxnSpPr>
                <a:cxnSpLocks/>
              </p:cNvCxnSpPr>
              <p:nvPr/>
            </p:nvCxnSpPr>
            <p:spPr>
              <a:xfrm>
                <a:off x="10058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 14"/>
              <p:cNvCxnSpPr>
                <a:cxnSpLocks/>
              </p:cNvCxnSpPr>
              <p:nvPr/>
            </p:nvCxnSpPr>
            <p:spPr>
              <a:xfrm>
                <a:off x="10972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 15"/>
              <p:cNvCxnSpPr>
                <a:cxnSpLocks/>
              </p:cNvCxnSpPr>
              <p:nvPr/>
            </p:nvCxnSpPr>
            <p:spPr>
              <a:xfrm>
                <a:off x="11887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 16"/>
              <p:cNvCxnSpPr>
                <a:cxnSpLocks/>
              </p:cNvCxnSpPr>
              <p:nvPr/>
            </p:nvCxnSpPr>
            <p:spPr>
              <a:xfrm>
                <a:off x="12801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 17"/>
              <p:cNvCxnSpPr>
                <a:cxnSpLocks/>
              </p:cNvCxnSpPr>
              <p:nvPr/>
            </p:nvCxnSpPr>
            <p:spPr>
              <a:xfrm>
                <a:off x="13716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nector 18"/>
              <p:cNvCxnSpPr>
                <a:cxnSpLocks/>
              </p:cNvCxnSpPr>
              <p:nvPr/>
            </p:nvCxnSpPr>
            <p:spPr>
              <a:xfrm>
                <a:off x="14630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nector 19"/>
              <p:cNvCxnSpPr>
                <a:cxnSpLocks/>
              </p:cNvCxnSpPr>
              <p:nvPr/>
            </p:nvCxnSpPr>
            <p:spPr>
              <a:xfrm>
                <a:off x="15544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nector 20"/>
              <p:cNvCxnSpPr>
                <a:cxnSpLocks/>
              </p:cNvCxnSpPr>
              <p:nvPr/>
            </p:nvCxnSpPr>
            <p:spPr>
              <a:xfrm>
                <a:off x="16459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nector 21"/>
              <p:cNvCxnSpPr>
                <a:cxnSpLocks/>
              </p:cNvCxnSpPr>
              <p:nvPr/>
            </p:nvCxnSpPr>
            <p:spPr>
              <a:xfrm>
                <a:off x="17373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ctor 22"/>
              <p:cNvCxnSpPr>
                <a:cxnSpLocks/>
              </p:cNvCxnSpPr>
              <p:nvPr/>
            </p:nvCxnSpPr>
            <p:spPr>
              <a:xfrm>
                <a:off x="18288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or 23"/>
              <p:cNvCxnSpPr>
                <a:cxnSpLocks/>
              </p:cNvCxnSpPr>
              <p:nvPr/>
            </p:nvCxnSpPr>
            <p:spPr>
              <a:xfrm>
                <a:off x="19202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ctor 24"/>
              <p:cNvCxnSpPr>
                <a:cxnSpLocks/>
              </p:cNvCxnSpPr>
              <p:nvPr/>
            </p:nvCxnSpPr>
            <p:spPr>
              <a:xfrm>
                <a:off x="20116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nector 25"/>
              <p:cNvCxnSpPr>
                <a:cxnSpLocks/>
              </p:cNvCxnSpPr>
              <p:nvPr/>
            </p:nvCxnSpPr>
            <p:spPr>
              <a:xfrm>
                <a:off x="21031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nector 26"/>
              <p:cNvCxnSpPr>
                <a:cxnSpLocks/>
              </p:cNvCxnSpPr>
              <p:nvPr/>
            </p:nvCxnSpPr>
            <p:spPr>
              <a:xfrm>
                <a:off x="21945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or 27"/>
              <p:cNvCxnSpPr>
                <a:cxnSpLocks/>
              </p:cNvCxnSpPr>
              <p:nvPr/>
            </p:nvCxnSpPr>
            <p:spPr>
              <a:xfrm>
                <a:off x="22860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 28"/>
              <p:cNvCxnSpPr>
                <a:cxnSpLocks/>
              </p:cNvCxnSpPr>
              <p:nvPr/>
            </p:nvCxnSpPr>
            <p:spPr>
              <a:xfrm>
                <a:off x="23774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ctor 29"/>
              <p:cNvCxnSpPr>
                <a:cxnSpLocks/>
              </p:cNvCxnSpPr>
              <p:nvPr/>
            </p:nvCxnSpPr>
            <p:spPr>
              <a:xfrm>
                <a:off x="24688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nector 30"/>
              <p:cNvCxnSpPr>
                <a:cxnSpLocks/>
              </p:cNvCxnSpPr>
              <p:nvPr/>
            </p:nvCxnSpPr>
            <p:spPr>
              <a:xfrm>
                <a:off x="25603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nector 31"/>
              <p:cNvCxnSpPr>
                <a:cxnSpLocks/>
              </p:cNvCxnSpPr>
              <p:nvPr/>
            </p:nvCxnSpPr>
            <p:spPr>
              <a:xfrm>
                <a:off x="26517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ctor 32"/>
              <p:cNvCxnSpPr>
                <a:cxnSpLocks/>
              </p:cNvCxnSpPr>
              <p:nvPr/>
            </p:nvCxnSpPr>
            <p:spPr>
              <a:xfrm>
                <a:off x="27432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ctor 33"/>
              <p:cNvCxnSpPr>
                <a:cxnSpLocks/>
              </p:cNvCxnSpPr>
              <p:nvPr/>
            </p:nvCxnSpPr>
            <p:spPr>
              <a:xfrm>
                <a:off x="28346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nector 34"/>
              <p:cNvCxnSpPr>
                <a:cxnSpLocks/>
              </p:cNvCxnSpPr>
              <p:nvPr/>
            </p:nvCxnSpPr>
            <p:spPr>
              <a:xfrm>
                <a:off x="29260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or 35"/>
              <p:cNvCxnSpPr>
                <a:cxnSpLocks/>
              </p:cNvCxnSpPr>
              <p:nvPr/>
            </p:nvCxnSpPr>
            <p:spPr>
              <a:xfrm>
                <a:off x="30175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nector 36"/>
              <p:cNvCxnSpPr>
                <a:cxnSpLocks/>
              </p:cNvCxnSpPr>
              <p:nvPr/>
            </p:nvCxnSpPr>
            <p:spPr>
              <a:xfrm>
                <a:off x="31089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nector 37"/>
              <p:cNvCxnSpPr>
                <a:cxnSpLocks/>
              </p:cNvCxnSpPr>
              <p:nvPr/>
            </p:nvCxnSpPr>
            <p:spPr>
              <a:xfrm>
                <a:off x="32004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ctor 38"/>
              <p:cNvCxnSpPr>
                <a:cxnSpLocks/>
              </p:cNvCxnSpPr>
              <p:nvPr/>
            </p:nvCxnSpPr>
            <p:spPr>
              <a:xfrm>
                <a:off x="32918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ctor 39"/>
              <p:cNvCxnSpPr>
                <a:cxnSpLocks/>
              </p:cNvCxnSpPr>
              <p:nvPr/>
            </p:nvCxnSpPr>
            <p:spPr>
              <a:xfrm>
                <a:off x="33832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ctor 40"/>
              <p:cNvCxnSpPr>
                <a:cxnSpLocks/>
              </p:cNvCxnSpPr>
              <p:nvPr/>
            </p:nvCxnSpPr>
            <p:spPr>
              <a:xfrm>
                <a:off x="34747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ctor 41"/>
              <p:cNvCxnSpPr>
                <a:cxnSpLocks/>
              </p:cNvCxnSpPr>
              <p:nvPr/>
            </p:nvCxnSpPr>
            <p:spPr>
              <a:xfrm>
                <a:off x="35661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ctor 42"/>
              <p:cNvCxnSpPr>
                <a:cxnSpLocks/>
              </p:cNvCxnSpPr>
              <p:nvPr/>
            </p:nvCxnSpPr>
            <p:spPr>
              <a:xfrm>
                <a:off x="36576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ctor 43"/>
              <p:cNvCxnSpPr>
                <a:cxnSpLocks/>
              </p:cNvCxnSpPr>
              <p:nvPr/>
            </p:nvCxnSpPr>
            <p:spPr>
              <a:xfrm>
                <a:off x="37490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ctor 44"/>
              <p:cNvCxnSpPr>
                <a:cxnSpLocks/>
              </p:cNvCxnSpPr>
              <p:nvPr/>
            </p:nvCxnSpPr>
            <p:spPr>
              <a:xfrm>
                <a:off x="38404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ctor 45"/>
              <p:cNvCxnSpPr>
                <a:cxnSpLocks/>
              </p:cNvCxnSpPr>
              <p:nvPr/>
            </p:nvCxnSpPr>
            <p:spPr>
              <a:xfrm>
                <a:off x="39319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or 46"/>
              <p:cNvCxnSpPr>
                <a:cxnSpLocks/>
              </p:cNvCxnSpPr>
              <p:nvPr/>
            </p:nvCxnSpPr>
            <p:spPr>
              <a:xfrm>
                <a:off x="40233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 47"/>
              <p:cNvCxnSpPr>
                <a:cxnSpLocks/>
              </p:cNvCxnSpPr>
              <p:nvPr/>
            </p:nvCxnSpPr>
            <p:spPr>
              <a:xfrm>
                <a:off x="41148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ctor 48"/>
              <p:cNvCxnSpPr>
                <a:cxnSpLocks/>
              </p:cNvCxnSpPr>
              <p:nvPr/>
            </p:nvCxnSpPr>
            <p:spPr>
              <a:xfrm>
                <a:off x="42062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 49"/>
              <p:cNvCxnSpPr>
                <a:cxnSpLocks/>
              </p:cNvCxnSpPr>
              <p:nvPr/>
            </p:nvCxnSpPr>
            <p:spPr>
              <a:xfrm>
                <a:off x="42976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ctor 50"/>
              <p:cNvCxnSpPr>
                <a:cxnSpLocks/>
              </p:cNvCxnSpPr>
              <p:nvPr/>
            </p:nvCxnSpPr>
            <p:spPr>
              <a:xfrm>
                <a:off x="43891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or 51"/>
              <p:cNvCxnSpPr>
                <a:cxnSpLocks/>
              </p:cNvCxnSpPr>
              <p:nvPr/>
            </p:nvCxnSpPr>
            <p:spPr>
              <a:xfrm>
                <a:off x="44805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or 52"/>
              <p:cNvCxnSpPr>
                <a:cxnSpLocks/>
              </p:cNvCxnSpPr>
              <p:nvPr/>
            </p:nvCxnSpPr>
            <p:spPr>
              <a:xfrm>
                <a:off x="45720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nector 53"/>
              <p:cNvCxnSpPr>
                <a:cxnSpLocks/>
              </p:cNvCxnSpPr>
              <p:nvPr/>
            </p:nvCxnSpPr>
            <p:spPr>
              <a:xfrm>
                <a:off x="46634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ctor 54"/>
              <p:cNvCxnSpPr>
                <a:cxnSpLocks/>
              </p:cNvCxnSpPr>
              <p:nvPr/>
            </p:nvCxnSpPr>
            <p:spPr>
              <a:xfrm>
                <a:off x="47548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ctor 55"/>
              <p:cNvCxnSpPr>
                <a:cxnSpLocks/>
              </p:cNvCxnSpPr>
              <p:nvPr/>
            </p:nvCxnSpPr>
            <p:spPr>
              <a:xfrm>
                <a:off x="48463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nector 56"/>
              <p:cNvCxnSpPr>
                <a:cxnSpLocks/>
              </p:cNvCxnSpPr>
              <p:nvPr/>
            </p:nvCxnSpPr>
            <p:spPr>
              <a:xfrm>
                <a:off x="49377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ctor 57"/>
              <p:cNvCxnSpPr>
                <a:cxnSpLocks/>
              </p:cNvCxnSpPr>
              <p:nvPr/>
            </p:nvCxnSpPr>
            <p:spPr>
              <a:xfrm>
                <a:off x="50292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ctor 58"/>
              <p:cNvCxnSpPr>
                <a:cxnSpLocks/>
              </p:cNvCxnSpPr>
              <p:nvPr/>
            </p:nvCxnSpPr>
            <p:spPr>
              <a:xfrm>
                <a:off x="51206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or 59"/>
              <p:cNvCxnSpPr>
                <a:cxnSpLocks/>
              </p:cNvCxnSpPr>
              <p:nvPr/>
            </p:nvCxnSpPr>
            <p:spPr>
              <a:xfrm>
                <a:off x="52120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or 60"/>
              <p:cNvCxnSpPr>
                <a:cxnSpLocks/>
              </p:cNvCxnSpPr>
              <p:nvPr/>
            </p:nvCxnSpPr>
            <p:spPr>
              <a:xfrm>
                <a:off x="53035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or 61"/>
              <p:cNvCxnSpPr>
                <a:cxnSpLocks/>
              </p:cNvCxnSpPr>
              <p:nvPr/>
            </p:nvCxnSpPr>
            <p:spPr>
              <a:xfrm>
                <a:off x="53949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or 62"/>
              <p:cNvCxnSpPr>
                <a:cxnSpLocks/>
              </p:cNvCxnSpPr>
              <p:nvPr/>
            </p:nvCxnSpPr>
            <p:spPr>
              <a:xfrm>
                <a:off x="54864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or 63"/>
              <p:cNvCxnSpPr>
                <a:cxnSpLocks/>
              </p:cNvCxnSpPr>
              <p:nvPr/>
            </p:nvCxnSpPr>
            <p:spPr>
              <a:xfrm>
                <a:off x="55778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or 64"/>
              <p:cNvCxnSpPr>
                <a:cxnSpLocks/>
              </p:cNvCxnSpPr>
              <p:nvPr/>
            </p:nvCxnSpPr>
            <p:spPr>
              <a:xfrm>
                <a:off x="56692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or 65"/>
              <p:cNvCxnSpPr>
                <a:cxnSpLocks/>
              </p:cNvCxnSpPr>
              <p:nvPr/>
            </p:nvCxnSpPr>
            <p:spPr>
              <a:xfrm>
                <a:off x="57607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or 66"/>
              <p:cNvCxnSpPr>
                <a:cxnSpLocks/>
              </p:cNvCxnSpPr>
              <p:nvPr/>
            </p:nvCxnSpPr>
            <p:spPr>
              <a:xfrm>
                <a:off x="58521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or 67"/>
              <p:cNvCxnSpPr>
                <a:cxnSpLocks/>
              </p:cNvCxnSpPr>
              <p:nvPr/>
            </p:nvCxnSpPr>
            <p:spPr>
              <a:xfrm>
                <a:off x="59436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nector 68"/>
              <p:cNvCxnSpPr>
                <a:cxnSpLocks/>
              </p:cNvCxnSpPr>
              <p:nvPr/>
            </p:nvCxnSpPr>
            <p:spPr>
              <a:xfrm>
                <a:off x="60350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nector 69"/>
              <p:cNvCxnSpPr>
                <a:cxnSpLocks/>
              </p:cNvCxnSpPr>
              <p:nvPr/>
            </p:nvCxnSpPr>
            <p:spPr>
              <a:xfrm>
                <a:off x="61264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nector 70"/>
              <p:cNvCxnSpPr>
                <a:cxnSpLocks/>
              </p:cNvCxnSpPr>
              <p:nvPr/>
            </p:nvCxnSpPr>
            <p:spPr>
              <a:xfrm>
                <a:off x="62179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nector 71"/>
              <p:cNvCxnSpPr>
                <a:cxnSpLocks/>
              </p:cNvCxnSpPr>
              <p:nvPr/>
            </p:nvCxnSpPr>
            <p:spPr>
              <a:xfrm>
                <a:off x="63093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nector 72"/>
              <p:cNvCxnSpPr>
                <a:cxnSpLocks/>
              </p:cNvCxnSpPr>
              <p:nvPr/>
            </p:nvCxnSpPr>
            <p:spPr>
              <a:xfrm>
                <a:off x="64008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nector 73"/>
              <p:cNvCxnSpPr>
                <a:cxnSpLocks/>
              </p:cNvCxnSpPr>
              <p:nvPr/>
            </p:nvCxnSpPr>
            <p:spPr>
              <a:xfrm>
                <a:off x="64922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nector 74"/>
              <p:cNvCxnSpPr>
                <a:cxnSpLocks/>
              </p:cNvCxnSpPr>
              <p:nvPr/>
            </p:nvCxnSpPr>
            <p:spPr>
              <a:xfrm>
                <a:off x="65836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nector 75"/>
              <p:cNvCxnSpPr>
                <a:cxnSpLocks/>
              </p:cNvCxnSpPr>
              <p:nvPr/>
            </p:nvCxnSpPr>
            <p:spPr>
              <a:xfrm>
                <a:off x="66751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nector 76"/>
              <p:cNvCxnSpPr>
                <a:cxnSpLocks/>
              </p:cNvCxnSpPr>
              <p:nvPr/>
            </p:nvCxnSpPr>
            <p:spPr>
              <a:xfrm>
                <a:off x="67665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nector 77"/>
              <p:cNvCxnSpPr>
                <a:cxnSpLocks/>
              </p:cNvCxnSpPr>
              <p:nvPr/>
            </p:nvCxnSpPr>
            <p:spPr>
              <a:xfrm>
                <a:off x="68580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nector 78"/>
              <p:cNvCxnSpPr>
                <a:cxnSpLocks/>
              </p:cNvCxnSpPr>
              <p:nvPr/>
            </p:nvCxnSpPr>
            <p:spPr>
              <a:xfrm>
                <a:off x="69494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nector 79"/>
              <p:cNvCxnSpPr>
                <a:cxnSpLocks/>
              </p:cNvCxnSpPr>
              <p:nvPr/>
            </p:nvCxnSpPr>
            <p:spPr>
              <a:xfrm>
                <a:off x="70408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nector 80"/>
              <p:cNvCxnSpPr>
                <a:cxnSpLocks/>
              </p:cNvCxnSpPr>
              <p:nvPr/>
            </p:nvCxnSpPr>
            <p:spPr>
              <a:xfrm>
                <a:off x="713232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nector 81"/>
              <p:cNvCxnSpPr>
                <a:cxnSpLocks/>
              </p:cNvCxnSpPr>
              <p:nvPr/>
            </p:nvCxnSpPr>
            <p:spPr>
              <a:xfrm>
                <a:off x="722376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nector 82"/>
              <p:cNvCxnSpPr>
                <a:cxnSpLocks/>
              </p:cNvCxnSpPr>
              <p:nvPr/>
            </p:nvCxnSpPr>
            <p:spPr>
              <a:xfrm>
                <a:off x="731520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nector 83"/>
              <p:cNvCxnSpPr>
                <a:cxnSpLocks/>
              </p:cNvCxnSpPr>
              <p:nvPr/>
            </p:nvCxnSpPr>
            <p:spPr>
              <a:xfrm>
                <a:off x="740664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 84"/>
              <p:cNvCxnSpPr>
                <a:cxnSpLocks/>
              </p:cNvCxnSpPr>
              <p:nvPr/>
            </p:nvCxnSpPr>
            <p:spPr>
              <a:xfrm>
                <a:off x="7498080" y="0"/>
                <a:ext cx="0" cy="10689336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nector 85"/>
              <p:cNvCxnSpPr>
                <a:cxnSpLocks/>
              </p:cNvCxnSpPr>
              <p:nvPr/>
            </p:nvCxnSpPr>
            <p:spPr>
              <a:xfrm>
                <a:off x="0" y="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nector 86"/>
              <p:cNvCxnSpPr>
                <a:cxnSpLocks/>
              </p:cNvCxnSpPr>
              <p:nvPr/>
            </p:nvCxnSpPr>
            <p:spPr>
              <a:xfrm>
                <a:off x="0" y="914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nector 87"/>
              <p:cNvCxnSpPr>
                <a:cxnSpLocks/>
              </p:cNvCxnSpPr>
              <p:nvPr/>
            </p:nvCxnSpPr>
            <p:spPr>
              <a:xfrm>
                <a:off x="0" y="1828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nector 88"/>
              <p:cNvCxnSpPr>
                <a:cxnSpLocks/>
              </p:cNvCxnSpPr>
              <p:nvPr/>
            </p:nvCxnSpPr>
            <p:spPr>
              <a:xfrm>
                <a:off x="0" y="2743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nector 89"/>
              <p:cNvCxnSpPr>
                <a:cxnSpLocks/>
              </p:cNvCxnSpPr>
              <p:nvPr/>
            </p:nvCxnSpPr>
            <p:spPr>
              <a:xfrm>
                <a:off x="0" y="3657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nector 91"/>
              <p:cNvCxnSpPr>
                <a:cxnSpLocks/>
              </p:cNvCxnSpPr>
              <p:nvPr/>
            </p:nvCxnSpPr>
            <p:spPr>
              <a:xfrm>
                <a:off x="0" y="5486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nector 90"/>
              <p:cNvCxnSpPr>
                <a:cxnSpLocks/>
              </p:cNvCxnSpPr>
              <p:nvPr/>
            </p:nvCxnSpPr>
            <p:spPr>
              <a:xfrm>
                <a:off x="0" y="4572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nector 92"/>
              <p:cNvCxnSpPr>
                <a:cxnSpLocks/>
              </p:cNvCxnSpPr>
              <p:nvPr/>
            </p:nvCxnSpPr>
            <p:spPr>
              <a:xfrm>
                <a:off x="0" y="6400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nector 94"/>
              <p:cNvCxnSpPr>
                <a:cxnSpLocks/>
              </p:cNvCxnSpPr>
              <p:nvPr/>
            </p:nvCxnSpPr>
            <p:spPr>
              <a:xfrm>
                <a:off x="0" y="8229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nector 93"/>
              <p:cNvCxnSpPr>
                <a:cxnSpLocks/>
              </p:cNvCxnSpPr>
              <p:nvPr/>
            </p:nvCxnSpPr>
            <p:spPr>
              <a:xfrm>
                <a:off x="0" y="7315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nector 95"/>
              <p:cNvCxnSpPr>
                <a:cxnSpLocks/>
              </p:cNvCxnSpPr>
              <p:nvPr/>
            </p:nvCxnSpPr>
            <p:spPr>
              <a:xfrm>
                <a:off x="0" y="9144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nector 97"/>
              <p:cNvCxnSpPr>
                <a:cxnSpLocks/>
              </p:cNvCxnSpPr>
              <p:nvPr/>
            </p:nvCxnSpPr>
            <p:spPr>
              <a:xfrm>
                <a:off x="0" y="10972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nector 96"/>
              <p:cNvCxnSpPr>
                <a:cxnSpLocks/>
              </p:cNvCxnSpPr>
              <p:nvPr/>
            </p:nvCxnSpPr>
            <p:spPr>
              <a:xfrm>
                <a:off x="0" y="10058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nector 98"/>
              <p:cNvCxnSpPr>
                <a:cxnSpLocks/>
              </p:cNvCxnSpPr>
              <p:nvPr/>
            </p:nvCxnSpPr>
            <p:spPr>
              <a:xfrm>
                <a:off x="0" y="11887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nector 99"/>
              <p:cNvCxnSpPr>
                <a:cxnSpLocks/>
              </p:cNvCxnSpPr>
              <p:nvPr/>
            </p:nvCxnSpPr>
            <p:spPr>
              <a:xfrm>
                <a:off x="0" y="12801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nector 101"/>
              <p:cNvCxnSpPr>
                <a:cxnSpLocks/>
              </p:cNvCxnSpPr>
              <p:nvPr/>
            </p:nvCxnSpPr>
            <p:spPr>
              <a:xfrm>
                <a:off x="0" y="14630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nector 100"/>
              <p:cNvCxnSpPr>
                <a:cxnSpLocks/>
              </p:cNvCxnSpPr>
              <p:nvPr/>
            </p:nvCxnSpPr>
            <p:spPr>
              <a:xfrm>
                <a:off x="0" y="13716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Connector 102"/>
              <p:cNvCxnSpPr>
                <a:cxnSpLocks/>
              </p:cNvCxnSpPr>
              <p:nvPr/>
            </p:nvCxnSpPr>
            <p:spPr>
              <a:xfrm>
                <a:off x="0" y="15544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 104"/>
              <p:cNvCxnSpPr>
                <a:cxnSpLocks/>
              </p:cNvCxnSpPr>
              <p:nvPr/>
            </p:nvCxnSpPr>
            <p:spPr>
              <a:xfrm>
                <a:off x="0" y="17373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 103"/>
              <p:cNvCxnSpPr>
                <a:cxnSpLocks/>
              </p:cNvCxnSpPr>
              <p:nvPr/>
            </p:nvCxnSpPr>
            <p:spPr>
              <a:xfrm>
                <a:off x="0" y="16459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or 105"/>
              <p:cNvCxnSpPr>
                <a:cxnSpLocks/>
              </p:cNvCxnSpPr>
              <p:nvPr/>
            </p:nvCxnSpPr>
            <p:spPr>
              <a:xfrm>
                <a:off x="0" y="18288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or 106"/>
              <p:cNvCxnSpPr>
                <a:cxnSpLocks/>
              </p:cNvCxnSpPr>
              <p:nvPr/>
            </p:nvCxnSpPr>
            <p:spPr>
              <a:xfrm>
                <a:off x="0" y="19202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or 107"/>
              <p:cNvCxnSpPr>
                <a:cxnSpLocks/>
              </p:cNvCxnSpPr>
              <p:nvPr/>
            </p:nvCxnSpPr>
            <p:spPr>
              <a:xfrm>
                <a:off x="0" y="20116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or 108"/>
              <p:cNvCxnSpPr>
                <a:cxnSpLocks/>
              </p:cNvCxnSpPr>
              <p:nvPr/>
            </p:nvCxnSpPr>
            <p:spPr>
              <a:xfrm>
                <a:off x="0" y="21031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or 109"/>
              <p:cNvCxnSpPr>
                <a:cxnSpLocks/>
              </p:cNvCxnSpPr>
              <p:nvPr/>
            </p:nvCxnSpPr>
            <p:spPr>
              <a:xfrm>
                <a:off x="0" y="21945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or 110"/>
              <p:cNvCxnSpPr>
                <a:cxnSpLocks/>
              </p:cNvCxnSpPr>
              <p:nvPr/>
            </p:nvCxnSpPr>
            <p:spPr>
              <a:xfrm>
                <a:off x="0" y="22860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or 111"/>
              <p:cNvCxnSpPr>
                <a:cxnSpLocks/>
              </p:cNvCxnSpPr>
              <p:nvPr/>
            </p:nvCxnSpPr>
            <p:spPr>
              <a:xfrm>
                <a:off x="0" y="23774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Connector 112"/>
              <p:cNvCxnSpPr>
                <a:cxnSpLocks/>
              </p:cNvCxnSpPr>
              <p:nvPr/>
            </p:nvCxnSpPr>
            <p:spPr>
              <a:xfrm>
                <a:off x="0" y="24688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Connector 113"/>
              <p:cNvCxnSpPr>
                <a:cxnSpLocks/>
              </p:cNvCxnSpPr>
              <p:nvPr/>
            </p:nvCxnSpPr>
            <p:spPr>
              <a:xfrm>
                <a:off x="0" y="25603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Connector 114"/>
              <p:cNvCxnSpPr>
                <a:cxnSpLocks/>
              </p:cNvCxnSpPr>
              <p:nvPr/>
            </p:nvCxnSpPr>
            <p:spPr>
              <a:xfrm>
                <a:off x="0" y="26517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nector 115"/>
              <p:cNvCxnSpPr>
                <a:cxnSpLocks/>
              </p:cNvCxnSpPr>
              <p:nvPr/>
            </p:nvCxnSpPr>
            <p:spPr>
              <a:xfrm>
                <a:off x="0" y="27432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nector 116"/>
              <p:cNvCxnSpPr>
                <a:cxnSpLocks/>
              </p:cNvCxnSpPr>
              <p:nvPr/>
            </p:nvCxnSpPr>
            <p:spPr>
              <a:xfrm>
                <a:off x="0" y="28346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nector 117"/>
              <p:cNvCxnSpPr>
                <a:cxnSpLocks/>
              </p:cNvCxnSpPr>
              <p:nvPr/>
            </p:nvCxnSpPr>
            <p:spPr>
              <a:xfrm>
                <a:off x="0" y="29260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nector 118"/>
              <p:cNvCxnSpPr>
                <a:cxnSpLocks/>
              </p:cNvCxnSpPr>
              <p:nvPr/>
            </p:nvCxnSpPr>
            <p:spPr>
              <a:xfrm>
                <a:off x="0" y="30175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Connector 119"/>
              <p:cNvCxnSpPr>
                <a:cxnSpLocks/>
              </p:cNvCxnSpPr>
              <p:nvPr/>
            </p:nvCxnSpPr>
            <p:spPr>
              <a:xfrm>
                <a:off x="0" y="31089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Connector 120"/>
              <p:cNvCxnSpPr>
                <a:cxnSpLocks/>
              </p:cNvCxnSpPr>
              <p:nvPr/>
            </p:nvCxnSpPr>
            <p:spPr>
              <a:xfrm>
                <a:off x="0" y="32004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nector 121"/>
              <p:cNvCxnSpPr>
                <a:cxnSpLocks/>
              </p:cNvCxnSpPr>
              <p:nvPr/>
            </p:nvCxnSpPr>
            <p:spPr>
              <a:xfrm>
                <a:off x="0" y="32918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nector 122"/>
              <p:cNvCxnSpPr>
                <a:cxnSpLocks/>
              </p:cNvCxnSpPr>
              <p:nvPr/>
            </p:nvCxnSpPr>
            <p:spPr>
              <a:xfrm>
                <a:off x="0" y="33832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nector 123"/>
              <p:cNvCxnSpPr>
                <a:cxnSpLocks/>
              </p:cNvCxnSpPr>
              <p:nvPr/>
            </p:nvCxnSpPr>
            <p:spPr>
              <a:xfrm>
                <a:off x="0" y="34747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nector 124"/>
              <p:cNvCxnSpPr>
                <a:cxnSpLocks/>
              </p:cNvCxnSpPr>
              <p:nvPr/>
            </p:nvCxnSpPr>
            <p:spPr>
              <a:xfrm>
                <a:off x="0" y="35661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nector 125"/>
              <p:cNvCxnSpPr>
                <a:cxnSpLocks/>
              </p:cNvCxnSpPr>
              <p:nvPr/>
            </p:nvCxnSpPr>
            <p:spPr>
              <a:xfrm>
                <a:off x="0" y="36576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nector 126"/>
              <p:cNvCxnSpPr>
                <a:cxnSpLocks/>
              </p:cNvCxnSpPr>
              <p:nvPr/>
            </p:nvCxnSpPr>
            <p:spPr>
              <a:xfrm>
                <a:off x="0" y="37490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nector 127"/>
              <p:cNvCxnSpPr>
                <a:cxnSpLocks/>
              </p:cNvCxnSpPr>
              <p:nvPr/>
            </p:nvCxnSpPr>
            <p:spPr>
              <a:xfrm>
                <a:off x="0" y="38404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nector 128"/>
              <p:cNvCxnSpPr>
                <a:cxnSpLocks/>
              </p:cNvCxnSpPr>
              <p:nvPr/>
            </p:nvCxnSpPr>
            <p:spPr>
              <a:xfrm>
                <a:off x="0" y="39319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nector 129"/>
              <p:cNvCxnSpPr>
                <a:cxnSpLocks/>
              </p:cNvCxnSpPr>
              <p:nvPr/>
            </p:nvCxnSpPr>
            <p:spPr>
              <a:xfrm>
                <a:off x="0" y="40233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nector 130"/>
              <p:cNvCxnSpPr>
                <a:cxnSpLocks/>
              </p:cNvCxnSpPr>
              <p:nvPr/>
            </p:nvCxnSpPr>
            <p:spPr>
              <a:xfrm>
                <a:off x="0" y="41148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nector 131"/>
              <p:cNvCxnSpPr>
                <a:cxnSpLocks/>
              </p:cNvCxnSpPr>
              <p:nvPr/>
            </p:nvCxnSpPr>
            <p:spPr>
              <a:xfrm>
                <a:off x="0" y="42062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nector 132"/>
              <p:cNvCxnSpPr>
                <a:cxnSpLocks/>
              </p:cNvCxnSpPr>
              <p:nvPr/>
            </p:nvCxnSpPr>
            <p:spPr>
              <a:xfrm>
                <a:off x="0" y="42976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nector 133"/>
              <p:cNvCxnSpPr>
                <a:cxnSpLocks/>
              </p:cNvCxnSpPr>
              <p:nvPr/>
            </p:nvCxnSpPr>
            <p:spPr>
              <a:xfrm>
                <a:off x="0" y="43891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nector 134"/>
              <p:cNvCxnSpPr>
                <a:cxnSpLocks/>
              </p:cNvCxnSpPr>
              <p:nvPr/>
            </p:nvCxnSpPr>
            <p:spPr>
              <a:xfrm>
                <a:off x="0" y="44805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Connector 135"/>
              <p:cNvCxnSpPr>
                <a:cxnSpLocks/>
              </p:cNvCxnSpPr>
              <p:nvPr/>
            </p:nvCxnSpPr>
            <p:spPr>
              <a:xfrm>
                <a:off x="0" y="45720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nector 136"/>
              <p:cNvCxnSpPr>
                <a:cxnSpLocks/>
              </p:cNvCxnSpPr>
              <p:nvPr/>
            </p:nvCxnSpPr>
            <p:spPr>
              <a:xfrm>
                <a:off x="0" y="46634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nector 137"/>
              <p:cNvCxnSpPr>
                <a:cxnSpLocks/>
              </p:cNvCxnSpPr>
              <p:nvPr/>
            </p:nvCxnSpPr>
            <p:spPr>
              <a:xfrm>
                <a:off x="0" y="47548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nector 138"/>
              <p:cNvCxnSpPr>
                <a:cxnSpLocks/>
              </p:cNvCxnSpPr>
              <p:nvPr/>
            </p:nvCxnSpPr>
            <p:spPr>
              <a:xfrm>
                <a:off x="0" y="48463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nector 140"/>
              <p:cNvCxnSpPr>
                <a:cxnSpLocks/>
              </p:cNvCxnSpPr>
              <p:nvPr/>
            </p:nvCxnSpPr>
            <p:spPr>
              <a:xfrm>
                <a:off x="0" y="50292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nector 139"/>
              <p:cNvCxnSpPr>
                <a:cxnSpLocks/>
              </p:cNvCxnSpPr>
              <p:nvPr/>
            </p:nvCxnSpPr>
            <p:spPr>
              <a:xfrm>
                <a:off x="0" y="49377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nector 141"/>
              <p:cNvCxnSpPr>
                <a:cxnSpLocks/>
              </p:cNvCxnSpPr>
              <p:nvPr/>
            </p:nvCxnSpPr>
            <p:spPr>
              <a:xfrm>
                <a:off x="0" y="51206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nector 143"/>
              <p:cNvCxnSpPr>
                <a:cxnSpLocks/>
              </p:cNvCxnSpPr>
              <p:nvPr/>
            </p:nvCxnSpPr>
            <p:spPr>
              <a:xfrm>
                <a:off x="0" y="53035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nector 142"/>
              <p:cNvCxnSpPr>
                <a:cxnSpLocks/>
              </p:cNvCxnSpPr>
              <p:nvPr/>
            </p:nvCxnSpPr>
            <p:spPr>
              <a:xfrm>
                <a:off x="0" y="52120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Connector 144"/>
              <p:cNvCxnSpPr>
                <a:cxnSpLocks/>
              </p:cNvCxnSpPr>
              <p:nvPr/>
            </p:nvCxnSpPr>
            <p:spPr>
              <a:xfrm>
                <a:off x="0" y="53949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Connector 145"/>
              <p:cNvCxnSpPr>
                <a:cxnSpLocks/>
              </p:cNvCxnSpPr>
              <p:nvPr/>
            </p:nvCxnSpPr>
            <p:spPr>
              <a:xfrm>
                <a:off x="0" y="54864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Connector 146"/>
              <p:cNvCxnSpPr>
                <a:cxnSpLocks/>
              </p:cNvCxnSpPr>
              <p:nvPr/>
            </p:nvCxnSpPr>
            <p:spPr>
              <a:xfrm>
                <a:off x="0" y="55778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Connector 147"/>
              <p:cNvCxnSpPr>
                <a:cxnSpLocks/>
              </p:cNvCxnSpPr>
              <p:nvPr/>
            </p:nvCxnSpPr>
            <p:spPr>
              <a:xfrm>
                <a:off x="0" y="56692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Connector 148"/>
              <p:cNvCxnSpPr>
                <a:cxnSpLocks/>
              </p:cNvCxnSpPr>
              <p:nvPr/>
            </p:nvCxnSpPr>
            <p:spPr>
              <a:xfrm>
                <a:off x="0" y="57607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nector 149"/>
              <p:cNvCxnSpPr>
                <a:cxnSpLocks/>
              </p:cNvCxnSpPr>
              <p:nvPr/>
            </p:nvCxnSpPr>
            <p:spPr>
              <a:xfrm>
                <a:off x="0" y="58521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nector 150"/>
              <p:cNvCxnSpPr>
                <a:cxnSpLocks/>
              </p:cNvCxnSpPr>
              <p:nvPr/>
            </p:nvCxnSpPr>
            <p:spPr>
              <a:xfrm>
                <a:off x="0" y="59436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nector 151"/>
              <p:cNvCxnSpPr>
                <a:cxnSpLocks/>
              </p:cNvCxnSpPr>
              <p:nvPr/>
            </p:nvCxnSpPr>
            <p:spPr>
              <a:xfrm>
                <a:off x="0" y="60350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nector 152"/>
              <p:cNvCxnSpPr>
                <a:cxnSpLocks/>
              </p:cNvCxnSpPr>
              <p:nvPr/>
            </p:nvCxnSpPr>
            <p:spPr>
              <a:xfrm>
                <a:off x="0" y="61264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Connector 153"/>
              <p:cNvCxnSpPr>
                <a:cxnSpLocks/>
              </p:cNvCxnSpPr>
              <p:nvPr/>
            </p:nvCxnSpPr>
            <p:spPr>
              <a:xfrm>
                <a:off x="0" y="62179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Connector 154"/>
              <p:cNvCxnSpPr>
                <a:cxnSpLocks/>
              </p:cNvCxnSpPr>
              <p:nvPr/>
            </p:nvCxnSpPr>
            <p:spPr>
              <a:xfrm>
                <a:off x="0" y="63093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Connector 155"/>
              <p:cNvCxnSpPr>
                <a:cxnSpLocks/>
              </p:cNvCxnSpPr>
              <p:nvPr/>
            </p:nvCxnSpPr>
            <p:spPr>
              <a:xfrm>
                <a:off x="0" y="64008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Connector 156"/>
              <p:cNvCxnSpPr>
                <a:cxnSpLocks/>
              </p:cNvCxnSpPr>
              <p:nvPr/>
            </p:nvCxnSpPr>
            <p:spPr>
              <a:xfrm>
                <a:off x="0" y="64922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Connector 157"/>
              <p:cNvCxnSpPr>
                <a:cxnSpLocks/>
              </p:cNvCxnSpPr>
              <p:nvPr/>
            </p:nvCxnSpPr>
            <p:spPr>
              <a:xfrm>
                <a:off x="0" y="65836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nector 158"/>
              <p:cNvCxnSpPr>
                <a:cxnSpLocks/>
              </p:cNvCxnSpPr>
              <p:nvPr/>
            </p:nvCxnSpPr>
            <p:spPr>
              <a:xfrm>
                <a:off x="0" y="66751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Connector 159"/>
              <p:cNvCxnSpPr>
                <a:cxnSpLocks/>
              </p:cNvCxnSpPr>
              <p:nvPr/>
            </p:nvCxnSpPr>
            <p:spPr>
              <a:xfrm>
                <a:off x="0" y="67665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Connector 160"/>
              <p:cNvCxnSpPr>
                <a:cxnSpLocks/>
              </p:cNvCxnSpPr>
              <p:nvPr/>
            </p:nvCxnSpPr>
            <p:spPr>
              <a:xfrm>
                <a:off x="0" y="68580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Connector 161"/>
              <p:cNvCxnSpPr>
                <a:cxnSpLocks/>
              </p:cNvCxnSpPr>
              <p:nvPr/>
            </p:nvCxnSpPr>
            <p:spPr>
              <a:xfrm>
                <a:off x="0" y="69494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Connector 162"/>
              <p:cNvCxnSpPr>
                <a:cxnSpLocks/>
              </p:cNvCxnSpPr>
              <p:nvPr/>
            </p:nvCxnSpPr>
            <p:spPr>
              <a:xfrm>
                <a:off x="0" y="70408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Connector 163"/>
              <p:cNvCxnSpPr>
                <a:cxnSpLocks/>
              </p:cNvCxnSpPr>
              <p:nvPr/>
            </p:nvCxnSpPr>
            <p:spPr>
              <a:xfrm>
                <a:off x="0" y="71323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Connector 164"/>
              <p:cNvCxnSpPr>
                <a:cxnSpLocks/>
              </p:cNvCxnSpPr>
              <p:nvPr/>
            </p:nvCxnSpPr>
            <p:spPr>
              <a:xfrm>
                <a:off x="0" y="72237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Connector 165"/>
              <p:cNvCxnSpPr>
                <a:cxnSpLocks/>
              </p:cNvCxnSpPr>
              <p:nvPr/>
            </p:nvCxnSpPr>
            <p:spPr>
              <a:xfrm>
                <a:off x="0" y="73152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Connector 166"/>
              <p:cNvCxnSpPr>
                <a:cxnSpLocks/>
              </p:cNvCxnSpPr>
              <p:nvPr/>
            </p:nvCxnSpPr>
            <p:spPr>
              <a:xfrm>
                <a:off x="0" y="74066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Connector 167"/>
              <p:cNvCxnSpPr>
                <a:cxnSpLocks/>
              </p:cNvCxnSpPr>
              <p:nvPr/>
            </p:nvCxnSpPr>
            <p:spPr>
              <a:xfrm>
                <a:off x="0" y="74980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Connector 168"/>
              <p:cNvCxnSpPr>
                <a:cxnSpLocks/>
              </p:cNvCxnSpPr>
              <p:nvPr/>
            </p:nvCxnSpPr>
            <p:spPr>
              <a:xfrm>
                <a:off x="0" y="75895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Connector 169"/>
              <p:cNvCxnSpPr>
                <a:cxnSpLocks/>
              </p:cNvCxnSpPr>
              <p:nvPr/>
            </p:nvCxnSpPr>
            <p:spPr>
              <a:xfrm>
                <a:off x="0" y="76809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Connector 170"/>
              <p:cNvCxnSpPr>
                <a:cxnSpLocks/>
              </p:cNvCxnSpPr>
              <p:nvPr/>
            </p:nvCxnSpPr>
            <p:spPr>
              <a:xfrm>
                <a:off x="0" y="77724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Connector 171"/>
              <p:cNvCxnSpPr>
                <a:cxnSpLocks/>
              </p:cNvCxnSpPr>
              <p:nvPr/>
            </p:nvCxnSpPr>
            <p:spPr>
              <a:xfrm>
                <a:off x="0" y="78638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Connector 172"/>
              <p:cNvCxnSpPr>
                <a:cxnSpLocks/>
              </p:cNvCxnSpPr>
              <p:nvPr/>
            </p:nvCxnSpPr>
            <p:spPr>
              <a:xfrm>
                <a:off x="0" y="79552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nector 173"/>
              <p:cNvCxnSpPr>
                <a:cxnSpLocks/>
              </p:cNvCxnSpPr>
              <p:nvPr/>
            </p:nvCxnSpPr>
            <p:spPr>
              <a:xfrm>
                <a:off x="0" y="80467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Connector 174"/>
              <p:cNvCxnSpPr>
                <a:cxnSpLocks/>
              </p:cNvCxnSpPr>
              <p:nvPr/>
            </p:nvCxnSpPr>
            <p:spPr>
              <a:xfrm>
                <a:off x="0" y="81381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Connector 175"/>
              <p:cNvCxnSpPr>
                <a:cxnSpLocks/>
              </p:cNvCxnSpPr>
              <p:nvPr/>
            </p:nvCxnSpPr>
            <p:spPr>
              <a:xfrm>
                <a:off x="0" y="82296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Connector 176"/>
              <p:cNvCxnSpPr>
                <a:cxnSpLocks/>
              </p:cNvCxnSpPr>
              <p:nvPr/>
            </p:nvCxnSpPr>
            <p:spPr>
              <a:xfrm>
                <a:off x="0" y="83210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Connector 177"/>
              <p:cNvCxnSpPr>
                <a:cxnSpLocks/>
              </p:cNvCxnSpPr>
              <p:nvPr/>
            </p:nvCxnSpPr>
            <p:spPr>
              <a:xfrm>
                <a:off x="0" y="84124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Connector 178"/>
              <p:cNvCxnSpPr>
                <a:cxnSpLocks/>
              </p:cNvCxnSpPr>
              <p:nvPr/>
            </p:nvCxnSpPr>
            <p:spPr>
              <a:xfrm>
                <a:off x="0" y="85039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nector 179"/>
              <p:cNvCxnSpPr>
                <a:cxnSpLocks/>
              </p:cNvCxnSpPr>
              <p:nvPr/>
            </p:nvCxnSpPr>
            <p:spPr>
              <a:xfrm>
                <a:off x="0" y="85953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nector 180"/>
              <p:cNvCxnSpPr>
                <a:cxnSpLocks/>
              </p:cNvCxnSpPr>
              <p:nvPr/>
            </p:nvCxnSpPr>
            <p:spPr>
              <a:xfrm>
                <a:off x="0" y="86868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nector 181"/>
              <p:cNvCxnSpPr>
                <a:cxnSpLocks/>
              </p:cNvCxnSpPr>
              <p:nvPr/>
            </p:nvCxnSpPr>
            <p:spPr>
              <a:xfrm>
                <a:off x="0" y="87782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nector 182"/>
              <p:cNvCxnSpPr>
                <a:cxnSpLocks/>
              </p:cNvCxnSpPr>
              <p:nvPr/>
            </p:nvCxnSpPr>
            <p:spPr>
              <a:xfrm>
                <a:off x="0" y="88696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nector 183"/>
              <p:cNvCxnSpPr>
                <a:cxnSpLocks/>
              </p:cNvCxnSpPr>
              <p:nvPr/>
            </p:nvCxnSpPr>
            <p:spPr>
              <a:xfrm>
                <a:off x="0" y="89611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nector 184"/>
              <p:cNvCxnSpPr>
                <a:cxnSpLocks/>
              </p:cNvCxnSpPr>
              <p:nvPr/>
            </p:nvCxnSpPr>
            <p:spPr>
              <a:xfrm>
                <a:off x="0" y="90525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nector 185"/>
              <p:cNvCxnSpPr>
                <a:cxnSpLocks/>
              </p:cNvCxnSpPr>
              <p:nvPr/>
            </p:nvCxnSpPr>
            <p:spPr>
              <a:xfrm>
                <a:off x="0" y="91440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nector 186"/>
              <p:cNvCxnSpPr>
                <a:cxnSpLocks/>
              </p:cNvCxnSpPr>
              <p:nvPr/>
            </p:nvCxnSpPr>
            <p:spPr>
              <a:xfrm>
                <a:off x="0" y="92354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nector 187"/>
              <p:cNvCxnSpPr>
                <a:cxnSpLocks/>
              </p:cNvCxnSpPr>
              <p:nvPr/>
            </p:nvCxnSpPr>
            <p:spPr>
              <a:xfrm>
                <a:off x="0" y="93268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nector 188"/>
              <p:cNvCxnSpPr>
                <a:cxnSpLocks/>
              </p:cNvCxnSpPr>
              <p:nvPr/>
            </p:nvCxnSpPr>
            <p:spPr>
              <a:xfrm>
                <a:off x="0" y="94183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nector 189"/>
              <p:cNvCxnSpPr>
                <a:cxnSpLocks/>
              </p:cNvCxnSpPr>
              <p:nvPr/>
            </p:nvCxnSpPr>
            <p:spPr>
              <a:xfrm>
                <a:off x="0" y="95097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nector 190"/>
              <p:cNvCxnSpPr>
                <a:cxnSpLocks/>
              </p:cNvCxnSpPr>
              <p:nvPr/>
            </p:nvCxnSpPr>
            <p:spPr>
              <a:xfrm>
                <a:off x="0" y="96012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Connector 191"/>
              <p:cNvCxnSpPr>
                <a:cxnSpLocks/>
              </p:cNvCxnSpPr>
              <p:nvPr/>
            </p:nvCxnSpPr>
            <p:spPr>
              <a:xfrm>
                <a:off x="0" y="96926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Connector 192"/>
              <p:cNvCxnSpPr>
                <a:cxnSpLocks/>
              </p:cNvCxnSpPr>
              <p:nvPr/>
            </p:nvCxnSpPr>
            <p:spPr>
              <a:xfrm>
                <a:off x="0" y="97840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Connector 193"/>
              <p:cNvCxnSpPr>
                <a:cxnSpLocks/>
              </p:cNvCxnSpPr>
              <p:nvPr/>
            </p:nvCxnSpPr>
            <p:spPr>
              <a:xfrm>
                <a:off x="0" y="98755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Connector 194"/>
              <p:cNvCxnSpPr>
                <a:cxnSpLocks/>
              </p:cNvCxnSpPr>
              <p:nvPr/>
            </p:nvCxnSpPr>
            <p:spPr>
              <a:xfrm>
                <a:off x="0" y="99669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Connector 195"/>
              <p:cNvCxnSpPr>
                <a:cxnSpLocks/>
              </p:cNvCxnSpPr>
              <p:nvPr/>
            </p:nvCxnSpPr>
            <p:spPr>
              <a:xfrm>
                <a:off x="0" y="100584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Connector 196"/>
              <p:cNvCxnSpPr>
                <a:cxnSpLocks/>
              </p:cNvCxnSpPr>
              <p:nvPr/>
            </p:nvCxnSpPr>
            <p:spPr>
              <a:xfrm>
                <a:off x="0" y="101498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Connector 197"/>
              <p:cNvCxnSpPr>
                <a:cxnSpLocks/>
              </p:cNvCxnSpPr>
              <p:nvPr/>
            </p:nvCxnSpPr>
            <p:spPr>
              <a:xfrm>
                <a:off x="0" y="1024128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nector 198"/>
              <p:cNvCxnSpPr>
                <a:cxnSpLocks/>
              </p:cNvCxnSpPr>
              <p:nvPr/>
            </p:nvCxnSpPr>
            <p:spPr>
              <a:xfrm>
                <a:off x="0" y="1033272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nector 199"/>
              <p:cNvCxnSpPr>
                <a:cxnSpLocks/>
              </p:cNvCxnSpPr>
              <p:nvPr/>
            </p:nvCxnSpPr>
            <p:spPr>
              <a:xfrm>
                <a:off x="0" y="1042416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Connector 200"/>
              <p:cNvCxnSpPr>
                <a:cxnSpLocks/>
              </p:cNvCxnSpPr>
              <p:nvPr/>
            </p:nvCxnSpPr>
            <p:spPr>
              <a:xfrm>
                <a:off x="0" y="1051560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Connector 201"/>
              <p:cNvCxnSpPr>
                <a:cxnSpLocks/>
              </p:cNvCxnSpPr>
              <p:nvPr/>
            </p:nvCxnSpPr>
            <p:spPr>
              <a:xfrm>
                <a:off x="0" y="10607040"/>
                <a:ext cx="7562088" cy="0"/>
              </a:xfrm>
              <a:prstGeom prst="line">
                <a:avLst/>
              </a:prstGeom>
              <a:ln w="3175">
                <a:solidFill>
                  <a:srgbClr val="0D553E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3" name="Rounded Rectangle 202"/>
            <p:cNvSpPr/>
            <p:nvPr/>
          </p:nvSpPr>
          <p:spPr>
            <a:xfrm>
              <a:off x="144019" y="109728"/>
              <a:ext cx="7342631" cy="10469880"/>
            </a:xfrm>
            <a:prstGeom prst="roundRect">
              <a:avLst>
                <a:gd name="adj" fmla="val 5419"/>
              </a:avLst>
            </a:prstGeom>
            <a:solidFill>
              <a:srgbClr val="04110C"/>
            </a:solidFill>
            <a:ln w="1905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513" name="Group 512">
            <a:extLst>
              <a:ext uri="{FF2B5EF4-FFF2-40B4-BE49-F238E27FC236}">
                <a16:creationId xmlns:a16="http://schemas.microsoft.com/office/drawing/2014/main" id="{1E945546-D41A-44A2-9FC4-53149823527D}"/>
              </a:ext>
            </a:extLst>
          </p:cNvPr>
          <p:cNvGrpSpPr/>
          <p:nvPr/>
        </p:nvGrpSpPr>
        <p:grpSpPr>
          <a:xfrm>
            <a:off x="245365" y="349132"/>
            <a:ext cx="4260341" cy="975704"/>
            <a:chOff x="263970" y="346122"/>
            <a:chExt cx="4260341" cy="975704"/>
          </a:xfrm>
        </p:grpSpPr>
        <p:sp>
          <p:nvSpPr>
            <p:cNvPr id="204" name="TextBox 203"/>
            <p:cNvSpPr txBox="1"/>
            <p:nvPr/>
          </p:nvSpPr>
          <p:spPr>
            <a:xfrm>
              <a:off x="263970" y="346122"/>
              <a:ext cx="3291840" cy="411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400" b="1">
                  <a:solidFill>
                    <a:srgbClr val="1EF28D"/>
                  </a:solidFill>
                  <a:latin typeface="Arial"/>
                </a:rPr>
                <a:t>PLANT VISION</a:t>
              </a: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318071" y="829383"/>
              <a:ext cx="4206240" cy="49244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600" b="1" dirty="0" err="1">
                  <a:solidFill>
                    <a:srgbClr val="EFFFF8"/>
                  </a:solidFill>
                  <a:latin typeface="Tahoma"/>
                </a:rPr>
                <a:t>ระบบตรวจจับสภาพต้นไม้อัจฉริยะ</a:t>
              </a:r>
              <a:r>
                <a:rPr sz="1600" b="1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600" b="1" dirty="0" err="1">
                  <a:solidFill>
                    <a:srgbClr val="EFFFF8"/>
                  </a:solidFill>
                  <a:latin typeface="Tahoma"/>
                </a:rPr>
                <a:t>บน</a:t>
              </a:r>
              <a:r>
                <a:rPr sz="1600" b="1" dirty="0">
                  <a:solidFill>
                    <a:srgbClr val="EFFFF8"/>
                  </a:solidFill>
                  <a:latin typeface="Tahoma"/>
                </a:rPr>
                <a:t> Coral Dev Board</a:t>
              </a:r>
            </a:p>
            <a:p>
              <a:pPr algn="l"/>
              <a:r>
                <a:rPr sz="1600" b="1" dirty="0" err="1">
                  <a:solidFill>
                    <a:srgbClr val="EFFFF8"/>
                  </a:solidFill>
                  <a:latin typeface="Tahoma"/>
                </a:rPr>
                <a:t>ด้วย</a:t>
              </a:r>
              <a:r>
                <a:rPr sz="1600" b="1" dirty="0">
                  <a:solidFill>
                    <a:srgbClr val="EFFFF8"/>
                  </a:solidFill>
                  <a:latin typeface="Tahoma"/>
                </a:rPr>
                <a:t> AI </a:t>
              </a:r>
              <a:r>
                <a:rPr sz="1600" b="1" dirty="0" err="1">
                  <a:solidFill>
                    <a:srgbClr val="EFFFF8"/>
                  </a:solidFill>
                  <a:latin typeface="Tahoma"/>
                </a:rPr>
                <a:t>และ</a:t>
              </a:r>
              <a:r>
                <a:rPr sz="1600" b="1" dirty="0">
                  <a:solidFill>
                    <a:srgbClr val="EFFFF8"/>
                  </a:solidFill>
                  <a:latin typeface="Tahoma"/>
                </a:rPr>
                <a:t> IoT </a:t>
              </a:r>
              <a:r>
                <a:rPr sz="1600" b="1" dirty="0" err="1">
                  <a:solidFill>
                    <a:srgbClr val="EFFFF8"/>
                  </a:solidFill>
                  <a:latin typeface="Tahoma"/>
                </a:rPr>
                <a:t>สำหรับการเฝ้าระวังและดูแลพืชอัตโนมัติ</a:t>
              </a:r>
              <a:endParaRPr sz="1600" b="1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61476248-6642-47B5-AD00-138B1691BBE7}"/>
              </a:ext>
            </a:extLst>
          </p:cNvPr>
          <p:cNvGrpSpPr/>
          <p:nvPr/>
        </p:nvGrpSpPr>
        <p:grpSpPr>
          <a:xfrm>
            <a:off x="4350259" y="320040"/>
            <a:ext cx="2992373" cy="749808"/>
            <a:chOff x="4800600" y="320040"/>
            <a:chExt cx="2542032" cy="749808"/>
          </a:xfrm>
        </p:grpSpPr>
        <p:sp>
          <p:nvSpPr>
            <p:cNvPr id="206" name="Rounded Rectangle 205"/>
            <p:cNvSpPr/>
            <p:nvPr/>
          </p:nvSpPr>
          <p:spPr>
            <a:xfrm>
              <a:off x="4800600" y="320040"/>
              <a:ext cx="2542032" cy="749808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6384036" y="403003"/>
              <a:ext cx="777240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600" b="1" dirty="0" err="1">
                  <a:solidFill>
                    <a:srgbClr val="1EF28D"/>
                  </a:solidFill>
                  <a:latin typeface="Tahoma"/>
                </a:rPr>
                <a:t>ผู้จัดทำ</a:t>
              </a:r>
              <a:endParaRPr sz="1600" b="1" dirty="0">
                <a:solidFill>
                  <a:srgbClr val="1EF28D"/>
                </a:solidFill>
                <a:latin typeface="Tahoma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5368243" y="667512"/>
              <a:ext cx="1828800" cy="338554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sz="1100" b="0" dirty="0" err="1">
                  <a:solidFill>
                    <a:srgbClr val="EFFFF8"/>
                  </a:solidFill>
                  <a:latin typeface="Tahoma"/>
                </a:rPr>
                <a:t>นายภัคณัฏฐ์</a:t>
              </a:r>
              <a:r>
                <a:rPr sz="11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100" b="0" dirty="0" err="1">
                  <a:solidFill>
                    <a:srgbClr val="EFFFF8"/>
                  </a:solidFill>
                  <a:latin typeface="Tahoma"/>
                </a:rPr>
                <a:t>วชิรางกูร</a:t>
              </a:r>
              <a:r>
                <a:rPr sz="1100" b="0" dirty="0">
                  <a:solidFill>
                    <a:srgbClr val="EFFFF8"/>
                  </a:solidFill>
                  <a:latin typeface="Tahoma"/>
                </a:rPr>
                <a:t>  B6746537</a:t>
              </a:r>
            </a:p>
            <a:p>
              <a:pPr algn="r"/>
              <a:r>
                <a:rPr sz="1100" b="0" dirty="0" err="1">
                  <a:solidFill>
                    <a:srgbClr val="EFFFF8"/>
                  </a:solidFill>
                  <a:latin typeface="Tahoma"/>
                </a:rPr>
                <a:t>นายธีรศักดิ์</a:t>
              </a:r>
              <a:r>
                <a:rPr sz="11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100" b="0" dirty="0" err="1">
                  <a:solidFill>
                    <a:srgbClr val="EFFFF8"/>
                  </a:solidFill>
                  <a:latin typeface="Tahoma"/>
                </a:rPr>
                <a:t>วางตา</a:t>
              </a:r>
              <a:r>
                <a:rPr sz="1100" b="0" dirty="0">
                  <a:solidFill>
                    <a:srgbClr val="EFFFF8"/>
                  </a:solidFill>
                  <a:latin typeface="Tahoma"/>
                </a:rPr>
                <a:t>  B6727727</a:t>
              </a:r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2087B9CF-6B8D-4481-964E-A5B16D926BE5}"/>
              </a:ext>
            </a:extLst>
          </p:cNvPr>
          <p:cNvGrpSpPr/>
          <p:nvPr/>
        </p:nvGrpSpPr>
        <p:grpSpPr>
          <a:xfrm>
            <a:off x="4800600" y="1234440"/>
            <a:ext cx="2542032" cy="685800"/>
            <a:chOff x="4800600" y="1234440"/>
            <a:chExt cx="2542032" cy="685800"/>
          </a:xfrm>
        </p:grpSpPr>
        <p:sp>
          <p:nvSpPr>
            <p:cNvPr id="209" name="Rounded Rectangle 208"/>
            <p:cNvSpPr/>
            <p:nvPr/>
          </p:nvSpPr>
          <p:spPr>
            <a:xfrm>
              <a:off x="4800600" y="1234440"/>
              <a:ext cx="2542032" cy="68580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4898899" y="1323425"/>
              <a:ext cx="1859281" cy="1692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 dirty="0" err="1">
                  <a:solidFill>
                    <a:srgbClr val="1EF28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ผล</a:t>
              </a:r>
              <a:r>
                <a:rPr lang="th-TH" sz="1100" b="1" dirty="0">
                  <a:solidFill>
                    <a:srgbClr val="1EF28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ตรวจจับ </a:t>
              </a:r>
              <a:r>
                <a:rPr sz="1100" b="1" dirty="0" err="1">
                  <a:solidFill>
                    <a:srgbClr val="1EF28D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โดยรวม</a:t>
              </a:r>
              <a:endParaRPr sz="1100" b="1" dirty="0">
                <a:solidFill>
                  <a:srgbClr val="1EF28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4978908" y="1532547"/>
              <a:ext cx="868680" cy="32918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500" b="1" dirty="0">
                  <a:solidFill>
                    <a:srgbClr val="1EF28D"/>
                  </a:solidFill>
                  <a:latin typeface="Arial"/>
                </a:rPr>
                <a:t>60%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5852160" y="1618488"/>
              <a:ext cx="128016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400" b="0" dirty="0" err="1">
                  <a:solidFill>
                    <a:srgbClr val="EFFFF8"/>
                  </a:solidFill>
                  <a:latin typeface="Tahoma"/>
                </a:rPr>
                <a:t>ความแม่นยำประมาณ</a:t>
              </a:r>
              <a:endParaRPr sz="1400" b="0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26EB7588-B198-4F20-A5C3-088E179928A1}"/>
              </a:ext>
            </a:extLst>
          </p:cNvPr>
          <p:cNvGrpSpPr/>
          <p:nvPr/>
        </p:nvGrpSpPr>
        <p:grpSpPr>
          <a:xfrm>
            <a:off x="274320" y="2240280"/>
            <a:ext cx="3429000" cy="1664208"/>
            <a:chOff x="274320" y="2240280"/>
            <a:chExt cx="3429000" cy="1664208"/>
          </a:xfrm>
        </p:grpSpPr>
        <p:sp>
          <p:nvSpPr>
            <p:cNvPr id="213" name="Rounded Rectangle 212"/>
            <p:cNvSpPr/>
            <p:nvPr/>
          </p:nvSpPr>
          <p:spPr>
            <a:xfrm>
              <a:off x="274320" y="2240280"/>
              <a:ext cx="3429000" cy="1664208"/>
            </a:xfrm>
            <a:prstGeom prst="roundRect">
              <a:avLst/>
            </a:prstGeom>
            <a:solidFill>
              <a:srgbClr val="061F16"/>
            </a:solidFill>
            <a:ln w="1651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384048" y="2331720"/>
              <a:ext cx="3246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80" b="1">
                  <a:solidFill>
                    <a:srgbClr val="1EF28D"/>
                  </a:solidFill>
                  <a:latin typeface="Tahoma"/>
                </a:rPr>
                <a:t>ตรวจจับสภาพปกติ (Normal)</a:t>
              </a:r>
            </a:p>
          </p:txBody>
        </p:sp>
        <p:sp>
          <p:nvSpPr>
            <p:cNvPr id="215" name="Rounded Rectangle 214"/>
            <p:cNvSpPr/>
            <p:nvPr/>
          </p:nvSpPr>
          <p:spPr>
            <a:xfrm>
              <a:off x="384048" y="2532888"/>
              <a:ext cx="1691640" cy="960120"/>
            </a:xfrm>
            <a:prstGeom prst="roundRect">
              <a:avLst/>
            </a:prstGeom>
            <a:solidFill>
              <a:srgbClr val="000000"/>
            </a:solidFill>
            <a:ln w="1270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16" name="Picture 215" descr="ผลการรันโปรแรกม.jpe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4684" y="2560320"/>
              <a:ext cx="1270366" cy="905255"/>
            </a:xfrm>
            <a:prstGeom prst="rect">
              <a:avLst/>
            </a:prstGeom>
          </p:spPr>
        </p:pic>
        <p:sp>
          <p:nvSpPr>
            <p:cNvPr id="217" name="TextBox 216"/>
            <p:cNvSpPr txBox="1"/>
            <p:nvPr/>
          </p:nvSpPr>
          <p:spPr>
            <a:xfrm>
              <a:off x="2221991" y="2532888"/>
              <a:ext cx="32004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30" b="0">
                  <a:solidFill>
                    <a:srgbClr val="BEFFE2"/>
                  </a:solidFill>
                  <a:latin typeface="Tahoma"/>
                </a:rPr>
                <a:t>FPS</a:t>
              </a:r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2752344" y="2532888"/>
              <a:ext cx="384048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530" b="0">
                  <a:solidFill>
                    <a:srgbClr val="BEFFE2"/>
                  </a:solidFill>
                  <a:latin typeface="Tahoma"/>
                </a:rPr>
                <a:t>Classes</a:t>
              </a:r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2221991" y="2697480"/>
              <a:ext cx="320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EF28D"/>
                  </a:solidFill>
                  <a:latin typeface="Arial"/>
                </a:rPr>
                <a:t>10</a:t>
              </a:r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2770632" y="2697480"/>
              <a:ext cx="3657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100" b="1">
                  <a:solidFill>
                    <a:srgbClr val="1EF28D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221" name="Connector 220"/>
            <p:cNvCxnSpPr>
              <a:cxnSpLocks/>
            </p:cNvCxnSpPr>
            <p:nvPr/>
          </p:nvCxnSpPr>
          <p:spPr>
            <a:xfrm>
              <a:off x="2221991" y="2962656"/>
              <a:ext cx="914400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2221991" y="3063240"/>
              <a:ext cx="91440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80" b="0">
                  <a:solidFill>
                    <a:srgbClr val="BEFFE2"/>
                  </a:solidFill>
                  <a:latin typeface="Tahoma"/>
                </a:rPr>
                <a:t>ผลการตรวจจับ</a:t>
              </a:r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2221991" y="3200400"/>
              <a:ext cx="100584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1EF28D"/>
                  </a:solidFill>
                  <a:latin typeface="Arial"/>
                </a:rPr>
                <a:t>NORMAL</a:t>
              </a:r>
            </a:p>
          </p:txBody>
        </p:sp>
        <p:cxnSp>
          <p:nvCxnSpPr>
            <p:cNvPr id="224" name="Connector 223"/>
            <p:cNvCxnSpPr>
              <a:cxnSpLocks/>
            </p:cNvCxnSpPr>
            <p:nvPr/>
          </p:nvCxnSpPr>
          <p:spPr>
            <a:xfrm>
              <a:off x="2221991" y="3438144"/>
              <a:ext cx="914400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TextBox 224"/>
            <p:cNvSpPr txBox="1"/>
            <p:nvPr/>
          </p:nvSpPr>
          <p:spPr>
            <a:xfrm>
              <a:off x="2221991" y="3511296"/>
              <a:ext cx="82296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80" b="0">
                  <a:solidFill>
                    <a:srgbClr val="BEFFE2"/>
                  </a:solidFill>
                  <a:latin typeface="Tahoma"/>
                </a:rPr>
                <a:t>ความน่าจะเป็น</a:t>
              </a:r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221991" y="3630168"/>
              <a:ext cx="64008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1EF28D"/>
                  </a:solidFill>
                  <a:latin typeface="Arial"/>
                </a:rPr>
                <a:t>66%</a:t>
              </a:r>
            </a:p>
          </p:txBody>
        </p:sp>
        <p:sp>
          <p:nvSpPr>
            <p:cNvPr id="227" name="TextBox 226"/>
            <p:cNvSpPr txBox="1"/>
            <p:nvPr/>
          </p:nvSpPr>
          <p:spPr>
            <a:xfrm>
              <a:off x="393192" y="3593592"/>
              <a:ext cx="292608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59" b="0" dirty="0">
                  <a:solidFill>
                    <a:srgbClr val="BEFFE2"/>
                  </a:solidFill>
                  <a:latin typeface="Tahoma"/>
                </a:rPr>
                <a:t>Coral IP</a:t>
              </a:r>
            </a:p>
          </p:txBody>
        </p:sp>
        <p:sp>
          <p:nvSpPr>
            <p:cNvPr id="228" name="Rounded Rectangle 227"/>
            <p:cNvSpPr/>
            <p:nvPr/>
          </p:nvSpPr>
          <p:spPr>
            <a:xfrm>
              <a:off x="713232" y="3584448"/>
              <a:ext cx="393192" cy="118872"/>
            </a:xfrm>
            <a:prstGeom prst="roundRect">
              <a:avLst/>
            </a:prstGeom>
            <a:solidFill>
              <a:srgbClr val="061F16"/>
            </a:solidFill>
            <a:ln w="10160">
              <a:solidFill>
                <a:srgbClr val="0D55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722376" y="3602736"/>
              <a:ext cx="374904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80" b="0">
                  <a:solidFill>
                    <a:srgbClr val="EFFFF8"/>
                  </a:solidFill>
                  <a:latin typeface="Tahoma"/>
                </a:rPr>
                <a:t>10.10.10.1</a:t>
              </a:r>
            </a:p>
          </p:txBody>
        </p:sp>
        <p:sp>
          <p:nvSpPr>
            <p:cNvPr id="230" name="Rounded Rectangle 229"/>
            <p:cNvSpPr/>
            <p:nvPr/>
          </p:nvSpPr>
          <p:spPr>
            <a:xfrm>
              <a:off x="1143000" y="3584448"/>
              <a:ext cx="301752" cy="118872"/>
            </a:xfrm>
            <a:prstGeom prst="roundRect">
              <a:avLst/>
            </a:prstGeom>
            <a:solidFill>
              <a:srgbClr val="1EF28D"/>
            </a:solidFill>
            <a:ln w="1016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1" name="TextBox 230"/>
            <p:cNvSpPr txBox="1"/>
            <p:nvPr/>
          </p:nvSpPr>
          <p:spPr>
            <a:xfrm>
              <a:off x="1170432" y="3602736"/>
              <a:ext cx="246888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400" b="1">
                  <a:solidFill>
                    <a:srgbClr val="04110C"/>
                  </a:solidFill>
                  <a:latin typeface="Tahoma"/>
                </a:rPr>
                <a:t>MQTT</a:t>
              </a:r>
            </a:p>
          </p:txBody>
        </p:sp>
        <p:sp>
          <p:nvSpPr>
            <p:cNvPr id="232" name="TextBox 231"/>
            <p:cNvSpPr txBox="1"/>
            <p:nvPr/>
          </p:nvSpPr>
          <p:spPr>
            <a:xfrm>
              <a:off x="2633472" y="3593592"/>
              <a:ext cx="38404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40" b="0">
                  <a:solidFill>
                    <a:srgbClr val="BEFFE2"/>
                  </a:solidFill>
                  <a:latin typeface="Tahoma"/>
                </a:rPr>
                <a:t>confidence</a:t>
              </a:r>
            </a:p>
          </p:txBody>
        </p:sp>
        <p:cxnSp>
          <p:nvCxnSpPr>
            <p:cNvPr id="233" name="Connector 232"/>
            <p:cNvCxnSpPr>
              <a:cxnSpLocks/>
            </p:cNvCxnSpPr>
            <p:nvPr/>
          </p:nvCxnSpPr>
          <p:spPr>
            <a:xfrm>
              <a:off x="3063239" y="3639312"/>
              <a:ext cx="365761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4" name="Oval 233"/>
            <p:cNvSpPr/>
            <p:nvPr/>
          </p:nvSpPr>
          <p:spPr>
            <a:xfrm>
              <a:off x="3300984" y="3611880"/>
              <a:ext cx="45720" cy="45720"/>
            </a:xfrm>
            <a:prstGeom prst="ellipse">
              <a:avLst/>
            </a:prstGeom>
            <a:solidFill>
              <a:srgbClr val="1EF28D"/>
            </a:solidFill>
            <a:ln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5" name="TextBox 234"/>
            <p:cNvSpPr txBox="1"/>
            <p:nvPr/>
          </p:nvSpPr>
          <p:spPr>
            <a:xfrm>
              <a:off x="3474720" y="3602736"/>
              <a:ext cx="182880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20" b="0">
                  <a:solidFill>
                    <a:srgbClr val="BEFFE2"/>
                  </a:solidFill>
                  <a:latin typeface="Tahoma"/>
                </a:rPr>
                <a:t>30%</a:t>
              </a:r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393192" y="3749039"/>
              <a:ext cx="219456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70" b="1">
                  <a:solidFill>
                    <a:srgbClr val="EFFFF8"/>
                  </a:solidFill>
                  <a:latin typeface="Tahoma"/>
                </a:rPr>
                <a:t>ตัวอย่าง การตรวจจับสภาพปกติ ของต้นพืช</a:t>
              </a:r>
            </a:p>
          </p:txBody>
        </p:sp>
      </p:grpSp>
      <p:grpSp>
        <p:nvGrpSpPr>
          <p:cNvPr id="518" name="Group 517">
            <a:extLst>
              <a:ext uri="{FF2B5EF4-FFF2-40B4-BE49-F238E27FC236}">
                <a16:creationId xmlns:a16="http://schemas.microsoft.com/office/drawing/2014/main" id="{E9E22CEB-7B26-4EB6-A4D4-EA5AEE04103A}"/>
              </a:ext>
            </a:extLst>
          </p:cNvPr>
          <p:cNvGrpSpPr/>
          <p:nvPr/>
        </p:nvGrpSpPr>
        <p:grpSpPr>
          <a:xfrm>
            <a:off x="3858768" y="2240280"/>
            <a:ext cx="3429000" cy="1664208"/>
            <a:chOff x="3858768" y="2240280"/>
            <a:chExt cx="3429000" cy="1664208"/>
          </a:xfrm>
        </p:grpSpPr>
        <p:sp>
          <p:nvSpPr>
            <p:cNvPr id="237" name="Rounded Rectangle 236"/>
            <p:cNvSpPr/>
            <p:nvPr/>
          </p:nvSpPr>
          <p:spPr>
            <a:xfrm>
              <a:off x="3858768" y="2240280"/>
              <a:ext cx="3429000" cy="1664208"/>
            </a:xfrm>
            <a:prstGeom prst="roundRect">
              <a:avLst/>
            </a:prstGeom>
            <a:solidFill>
              <a:srgbClr val="061F16"/>
            </a:solidFill>
            <a:ln w="16510">
              <a:solidFill>
                <a:srgbClr val="FF5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8" name="TextBox 237"/>
            <p:cNvSpPr txBox="1"/>
            <p:nvPr/>
          </p:nvSpPr>
          <p:spPr>
            <a:xfrm>
              <a:off x="3968496" y="2331720"/>
              <a:ext cx="3246120" cy="16459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780" b="1">
                  <a:solidFill>
                    <a:srgbClr val="FF5858"/>
                  </a:solidFill>
                  <a:latin typeface="Tahoma"/>
                </a:rPr>
                <a:t>ตรวจจับสภาพเหี่ยว (Wither)</a:t>
              </a:r>
            </a:p>
          </p:txBody>
        </p:sp>
        <p:sp>
          <p:nvSpPr>
            <p:cNvPr id="239" name="Rounded Rectangle 238"/>
            <p:cNvSpPr/>
            <p:nvPr/>
          </p:nvSpPr>
          <p:spPr>
            <a:xfrm>
              <a:off x="3968496" y="2532888"/>
              <a:ext cx="1691640" cy="960120"/>
            </a:xfrm>
            <a:prstGeom prst="roundRect">
              <a:avLst/>
            </a:prstGeom>
            <a:solidFill>
              <a:srgbClr val="000000"/>
            </a:solidFill>
            <a:ln w="12700">
              <a:solidFill>
                <a:srgbClr val="FF5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240" name="Picture 239" descr="ผลการรันโปรแกรม2.jpe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3359" y="2560320"/>
              <a:ext cx="1261913" cy="905256"/>
            </a:xfrm>
            <a:prstGeom prst="rect">
              <a:avLst/>
            </a:prstGeom>
          </p:spPr>
        </p:pic>
        <p:sp>
          <p:nvSpPr>
            <p:cNvPr id="241" name="TextBox 240"/>
            <p:cNvSpPr txBox="1"/>
            <p:nvPr/>
          </p:nvSpPr>
          <p:spPr>
            <a:xfrm>
              <a:off x="5806440" y="2532888"/>
              <a:ext cx="32004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30" b="0">
                  <a:solidFill>
                    <a:srgbClr val="BEFFE2"/>
                  </a:solidFill>
                  <a:latin typeface="Tahoma"/>
                </a:rPr>
                <a:t>FPS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6336792" y="2532888"/>
              <a:ext cx="384048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530" b="0">
                  <a:solidFill>
                    <a:srgbClr val="BEFFE2"/>
                  </a:solidFill>
                  <a:latin typeface="Tahoma"/>
                </a:rPr>
                <a:t>Classes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5806440" y="2697480"/>
              <a:ext cx="32004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1EF28D"/>
                  </a:solidFill>
                  <a:latin typeface="Arial"/>
                </a:rPr>
                <a:t>10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6355079" y="2697480"/>
              <a:ext cx="36576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r"/>
              <a:r>
                <a:rPr sz="1100" b="1">
                  <a:solidFill>
                    <a:srgbClr val="1EF28D"/>
                  </a:solidFill>
                  <a:latin typeface="Arial"/>
                </a:rPr>
                <a:t>1</a:t>
              </a:r>
            </a:p>
          </p:txBody>
        </p:sp>
        <p:cxnSp>
          <p:nvCxnSpPr>
            <p:cNvPr id="245" name="Connector 244"/>
            <p:cNvCxnSpPr>
              <a:cxnSpLocks/>
            </p:cNvCxnSpPr>
            <p:nvPr/>
          </p:nvCxnSpPr>
          <p:spPr>
            <a:xfrm>
              <a:off x="5806440" y="2962656"/>
              <a:ext cx="914400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5806440" y="3063240"/>
              <a:ext cx="91440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80" b="0">
                  <a:solidFill>
                    <a:srgbClr val="BEFFE2"/>
                  </a:solidFill>
                  <a:latin typeface="Tahoma"/>
                </a:rPr>
                <a:t>ผลการตรวจจับ</a:t>
              </a:r>
            </a:p>
          </p:txBody>
        </p:sp>
        <p:sp>
          <p:nvSpPr>
            <p:cNvPr id="247" name="TextBox 246"/>
            <p:cNvSpPr txBox="1"/>
            <p:nvPr/>
          </p:nvSpPr>
          <p:spPr>
            <a:xfrm>
              <a:off x="5806440" y="3200400"/>
              <a:ext cx="100584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FF5858"/>
                  </a:solidFill>
                  <a:latin typeface="Arial"/>
                </a:rPr>
                <a:t>WITHER</a:t>
              </a:r>
            </a:p>
          </p:txBody>
        </p:sp>
        <p:cxnSp>
          <p:nvCxnSpPr>
            <p:cNvPr id="248" name="Connector 247"/>
            <p:cNvCxnSpPr>
              <a:cxnSpLocks/>
            </p:cNvCxnSpPr>
            <p:nvPr/>
          </p:nvCxnSpPr>
          <p:spPr>
            <a:xfrm>
              <a:off x="5806440" y="3438144"/>
              <a:ext cx="914400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/>
            <p:cNvSpPr txBox="1"/>
            <p:nvPr/>
          </p:nvSpPr>
          <p:spPr>
            <a:xfrm>
              <a:off x="5806440" y="3511296"/>
              <a:ext cx="82296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80" b="0">
                  <a:solidFill>
                    <a:srgbClr val="BEFFE2"/>
                  </a:solidFill>
                  <a:latin typeface="Tahoma"/>
                </a:rPr>
                <a:t>ความน่าจะเป็น</a:t>
              </a:r>
            </a:p>
          </p:txBody>
        </p:sp>
        <p:sp>
          <p:nvSpPr>
            <p:cNvPr id="250" name="TextBox 249"/>
            <p:cNvSpPr txBox="1"/>
            <p:nvPr/>
          </p:nvSpPr>
          <p:spPr>
            <a:xfrm>
              <a:off x="5806440" y="3630168"/>
              <a:ext cx="64008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300" b="1">
                  <a:solidFill>
                    <a:srgbClr val="FF5858"/>
                  </a:solidFill>
                  <a:latin typeface="Arial"/>
                </a:rPr>
                <a:t>52%</a:t>
              </a:r>
            </a:p>
          </p:txBody>
        </p:sp>
        <p:sp>
          <p:nvSpPr>
            <p:cNvPr id="251" name="TextBox 250"/>
            <p:cNvSpPr txBox="1"/>
            <p:nvPr/>
          </p:nvSpPr>
          <p:spPr>
            <a:xfrm>
              <a:off x="3977639" y="3593592"/>
              <a:ext cx="292608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59" b="0">
                  <a:solidFill>
                    <a:srgbClr val="BEFFE2"/>
                  </a:solidFill>
                  <a:latin typeface="Tahoma"/>
                </a:rPr>
                <a:t>Coral IP</a:t>
              </a:r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4297679" y="3584448"/>
              <a:ext cx="393192" cy="118872"/>
            </a:xfrm>
            <a:prstGeom prst="roundRect">
              <a:avLst/>
            </a:prstGeom>
            <a:solidFill>
              <a:srgbClr val="061F16"/>
            </a:solidFill>
            <a:ln w="10160">
              <a:solidFill>
                <a:srgbClr val="0D553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3" name="TextBox 252"/>
            <p:cNvSpPr txBox="1"/>
            <p:nvPr/>
          </p:nvSpPr>
          <p:spPr>
            <a:xfrm>
              <a:off x="4306824" y="3602736"/>
              <a:ext cx="374904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80" b="0">
                  <a:solidFill>
                    <a:srgbClr val="EFFFF8"/>
                  </a:solidFill>
                  <a:latin typeface="Tahoma"/>
                </a:rPr>
                <a:t>10.10.10.1</a:t>
              </a:r>
            </a:p>
          </p:txBody>
        </p:sp>
        <p:sp>
          <p:nvSpPr>
            <p:cNvPr id="254" name="Rounded Rectangle 253"/>
            <p:cNvSpPr/>
            <p:nvPr/>
          </p:nvSpPr>
          <p:spPr>
            <a:xfrm>
              <a:off x="4727448" y="3584448"/>
              <a:ext cx="301752" cy="118872"/>
            </a:xfrm>
            <a:prstGeom prst="roundRect">
              <a:avLst/>
            </a:prstGeom>
            <a:solidFill>
              <a:srgbClr val="1EF28D"/>
            </a:solidFill>
            <a:ln w="1016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4754879" y="3602736"/>
              <a:ext cx="246888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400" b="1">
                  <a:solidFill>
                    <a:srgbClr val="04110C"/>
                  </a:solidFill>
                  <a:latin typeface="Tahoma"/>
                </a:rPr>
                <a:t>MQTT</a:t>
              </a:r>
            </a:p>
          </p:txBody>
        </p:sp>
        <p:sp>
          <p:nvSpPr>
            <p:cNvPr id="256" name="TextBox 255"/>
            <p:cNvSpPr txBox="1"/>
            <p:nvPr/>
          </p:nvSpPr>
          <p:spPr>
            <a:xfrm>
              <a:off x="6217920" y="3593592"/>
              <a:ext cx="38404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40" b="0">
                  <a:solidFill>
                    <a:srgbClr val="BEFFE2"/>
                  </a:solidFill>
                  <a:latin typeface="Tahoma"/>
                </a:rPr>
                <a:t>confidence</a:t>
              </a:r>
            </a:p>
          </p:txBody>
        </p:sp>
        <p:cxnSp>
          <p:nvCxnSpPr>
            <p:cNvPr id="257" name="Connector 256"/>
            <p:cNvCxnSpPr>
              <a:cxnSpLocks/>
            </p:cNvCxnSpPr>
            <p:nvPr/>
          </p:nvCxnSpPr>
          <p:spPr>
            <a:xfrm>
              <a:off x="6647688" y="3639312"/>
              <a:ext cx="365760" cy="0"/>
            </a:xfrm>
            <a:prstGeom prst="line">
              <a:avLst/>
            </a:prstGeom>
            <a:ln w="1270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8" name="Oval 257"/>
            <p:cNvSpPr/>
            <p:nvPr/>
          </p:nvSpPr>
          <p:spPr>
            <a:xfrm>
              <a:off x="6885431" y="3611880"/>
              <a:ext cx="45720" cy="45720"/>
            </a:xfrm>
            <a:prstGeom prst="ellipse">
              <a:avLst/>
            </a:prstGeom>
            <a:solidFill>
              <a:srgbClr val="1EF28D"/>
            </a:solidFill>
            <a:ln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9" name="TextBox 258"/>
            <p:cNvSpPr txBox="1"/>
            <p:nvPr/>
          </p:nvSpPr>
          <p:spPr>
            <a:xfrm>
              <a:off x="7059168" y="3602736"/>
              <a:ext cx="182880" cy="7315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420" b="0">
                  <a:solidFill>
                    <a:srgbClr val="BEFFE2"/>
                  </a:solidFill>
                  <a:latin typeface="Tahoma"/>
                </a:rPr>
                <a:t>30%</a:t>
              </a:r>
            </a:p>
          </p:txBody>
        </p:sp>
        <p:sp>
          <p:nvSpPr>
            <p:cNvPr id="260" name="TextBox 259"/>
            <p:cNvSpPr txBox="1"/>
            <p:nvPr/>
          </p:nvSpPr>
          <p:spPr>
            <a:xfrm>
              <a:off x="3977639" y="3749039"/>
              <a:ext cx="2194560" cy="10972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570" b="1">
                  <a:solidFill>
                    <a:srgbClr val="EFFFF8"/>
                  </a:solidFill>
                  <a:latin typeface="Tahoma"/>
                </a:rPr>
                <a:t>ตัวอย่าง การตรวจจับสภาพเหี่ยว ของต้นพืช</a:t>
              </a:r>
            </a:p>
          </p:txBody>
        </p:sp>
      </p:grp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E5D098CA-3BDD-4380-8FD4-3CC35B4C2B35}"/>
              </a:ext>
            </a:extLst>
          </p:cNvPr>
          <p:cNvGrpSpPr/>
          <p:nvPr/>
        </p:nvGrpSpPr>
        <p:grpSpPr>
          <a:xfrm>
            <a:off x="274320" y="4041648"/>
            <a:ext cx="1627632" cy="594360"/>
            <a:chOff x="274320" y="4041648"/>
            <a:chExt cx="1627632" cy="594360"/>
          </a:xfrm>
        </p:grpSpPr>
        <p:sp>
          <p:nvSpPr>
            <p:cNvPr id="261" name="Rounded Rectangle 260"/>
            <p:cNvSpPr/>
            <p:nvPr/>
          </p:nvSpPr>
          <p:spPr>
            <a:xfrm>
              <a:off x="274320" y="4041648"/>
              <a:ext cx="1627632" cy="59436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2" name="Oval 261"/>
            <p:cNvSpPr/>
            <p:nvPr/>
          </p:nvSpPr>
          <p:spPr>
            <a:xfrm>
              <a:off x="370332" y="4201668"/>
              <a:ext cx="320040" cy="320040"/>
            </a:xfrm>
            <a:prstGeom prst="ellipse">
              <a:avLst/>
            </a:prstGeom>
            <a:noFill/>
            <a:ln w="1651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3" name="Oval 262"/>
            <p:cNvSpPr/>
            <p:nvPr/>
          </p:nvSpPr>
          <p:spPr>
            <a:xfrm>
              <a:off x="450342" y="4281677"/>
              <a:ext cx="160020" cy="160020"/>
            </a:xfrm>
            <a:prstGeom prst="ellipse">
              <a:avLst/>
            </a:prstGeom>
            <a:noFill/>
            <a:ln w="1397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4" name="Connector 263"/>
            <p:cNvCxnSpPr>
              <a:cxnSpLocks/>
            </p:cNvCxnSpPr>
            <p:nvPr/>
          </p:nvCxnSpPr>
          <p:spPr>
            <a:xfrm>
              <a:off x="386334" y="4361688"/>
              <a:ext cx="288036" cy="0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onnector 264"/>
            <p:cNvCxnSpPr>
              <a:cxnSpLocks/>
            </p:cNvCxnSpPr>
            <p:nvPr/>
          </p:nvCxnSpPr>
          <p:spPr>
            <a:xfrm>
              <a:off x="530352" y="4217670"/>
              <a:ext cx="0" cy="288035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onnector 265"/>
            <p:cNvCxnSpPr>
              <a:cxnSpLocks/>
            </p:cNvCxnSpPr>
            <p:nvPr/>
          </p:nvCxnSpPr>
          <p:spPr>
            <a:xfrm flipV="1">
              <a:off x="626364" y="4153661"/>
              <a:ext cx="112014" cy="112014"/>
            </a:xfrm>
            <a:prstGeom prst="line">
              <a:avLst/>
            </a:prstGeom>
            <a:ln w="1905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>
              <a:cxnSpLocks/>
            </p:cNvCxnSpPr>
            <p:nvPr/>
          </p:nvCxnSpPr>
          <p:spPr>
            <a:xfrm>
              <a:off x="738378" y="4153661"/>
              <a:ext cx="0" cy="86411"/>
            </a:xfrm>
            <a:prstGeom prst="line">
              <a:avLst/>
            </a:prstGeom>
            <a:ln w="1905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onnector 267"/>
            <p:cNvCxnSpPr>
              <a:cxnSpLocks/>
            </p:cNvCxnSpPr>
            <p:nvPr/>
          </p:nvCxnSpPr>
          <p:spPr>
            <a:xfrm flipH="1">
              <a:off x="651967" y="4153661"/>
              <a:ext cx="86411" cy="0"/>
            </a:xfrm>
            <a:prstGeom prst="line">
              <a:avLst/>
            </a:prstGeom>
            <a:ln w="1905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TextBox 268"/>
            <p:cNvSpPr txBox="1"/>
            <p:nvPr/>
          </p:nvSpPr>
          <p:spPr>
            <a:xfrm>
              <a:off x="839823" y="4145353"/>
              <a:ext cx="96012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dirty="0" err="1">
                  <a:solidFill>
                    <a:srgbClr val="EFFFF8"/>
                  </a:solidFill>
                  <a:latin typeface="Tahoma"/>
                </a:rPr>
                <a:t>ความแม่นยำ</a:t>
              </a:r>
              <a:endParaRPr sz="1000" b="1" dirty="0">
                <a:solidFill>
                  <a:srgbClr val="EFFFF8"/>
                </a:solidFill>
                <a:latin typeface="Tahoma"/>
              </a:endParaRPr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841247" y="4334256"/>
              <a:ext cx="9601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1EF28D"/>
                  </a:solidFill>
                  <a:latin typeface="Arial"/>
                </a:rPr>
                <a:t>60%</a:t>
              </a:r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B19E8FD1-6074-43DA-BB04-AB8C16B2BA26}"/>
              </a:ext>
            </a:extLst>
          </p:cNvPr>
          <p:cNvGrpSpPr/>
          <p:nvPr/>
        </p:nvGrpSpPr>
        <p:grpSpPr>
          <a:xfrm>
            <a:off x="2011679" y="4041648"/>
            <a:ext cx="1627632" cy="594360"/>
            <a:chOff x="2011679" y="4041648"/>
            <a:chExt cx="1627632" cy="594360"/>
          </a:xfrm>
        </p:grpSpPr>
        <p:sp>
          <p:nvSpPr>
            <p:cNvPr id="272" name="Rounded Rectangle 271"/>
            <p:cNvSpPr/>
            <p:nvPr/>
          </p:nvSpPr>
          <p:spPr>
            <a:xfrm>
              <a:off x="2011679" y="4041648"/>
              <a:ext cx="1627632" cy="59436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3" name="Connector 272"/>
            <p:cNvCxnSpPr>
              <a:cxnSpLocks/>
            </p:cNvCxnSpPr>
            <p:nvPr/>
          </p:nvCxnSpPr>
          <p:spPr>
            <a:xfrm flipV="1">
              <a:off x="2371719" y="4196303"/>
              <a:ext cx="33945" cy="33945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onnector 273"/>
            <p:cNvCxnSpPr>
              <a:cxnSpLocks/>
            </p:cNvCxnSpPr>
            <p:nvPr/>
          </p:nvCxnSpPr>
          <p:spPr>
            <a:xfrm flipV="1">
              <a:off x="2408937" y="4272250"/>
              <a:ext cx="45111" cy="16419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>
              <a:cxnSpLocks/>
            </p:cNvCxnSpPr>
            <p:nvPr/>
          </p:nvCxnSpPr>
          <p:spPr>
            <a:xfrm>
              <a:off x="2417979" y="4357346"/>
              <a:ext cx="47823" cy="4184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ctor 275"/>
            <p:cNvCxnSpPr>
              <a:cxnSpLocks/>
            </p:cNvCxnSpPr>
            <p:nvPr/>
          </p:nvCxnSpPr>
          <p:spPr>
            <a:xfrm>
              <a:off x="2397149" y="4423410"/>
              <a:ext cx="41574" cy="24003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onnector 276"/>
            <p:cNvCxnSpPr>
              <a:cxnSpLocks/>
            </p:cNvCxnSpPr>
            <p:nvPr/>
          </p:nvCxnSpPr>
          <p:spPr>
            <a:xfrm>
              <a:off x="2350351" y="4474480"/>
              <a:ext cx="27535" cy="39324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onnector 277"/>
            <p:cNvCxnSpPr>
              <a:cxnSpLocks/>
            </p:cNvCxnSpPr>
            <p:nvPr/>
          </p:nvCxnSpPr>
          <p:spPr>
            <a:xfrm flipV="1">
              <a:off x="2258568" y="4221784"/>
              <a:ext cx="134416" cy="121616"/>
            </a:xfrm>
            <a:prstGeom prst="line">
              <a:avLst/>
            </a:prstGeom>
            <a:ln w="1905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9" name="Oval 278"/>
            <p:cNvSpPr/>
            <p:nvPr/>
          </p:nvSpPr>
          <p:spPr>
            <a:xfrm>
              <a:off x="2231136" y="4315968"/>
              <a:ext cx="54864" cy="54864"/>
            </a:xfrm>
            <a:prstGeom prst="ellipse">
              <a:avLst/>
            </a:prstGeom>
            <a:solidFill>
              <a:srgbClr val="1EF28D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0" name="Connector 279"/>
            <p:cNvCxnSpPr>
              <a:cxnSpLocks/>
            </p:cNvCxnSpPr>
            <p:nvPr/>
          </p:nvCxnSpPr>
          <p:spPr>
            <a:xfrm flipV="1">
              <a:off x="2060143" y="4206240"/>
              <a:ext cx="54406" cy="274320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onnector 280"/>
            <p:cNvCxnSpPr>
              <a:cxnSpLocks/>
            </p:cNvCxnSpPr>
            <p:nvPr/>
          </p:nvCxnSpPr>
          <p:spPr>
            <a:xfrm flipH="1" flipV="1">
              <a:off x="2402586" y="4206240"/>
              <a:ext cx="54406" cy="274320"/>
            </a:xfrm>
            <a:prstGeom prst="line">
              <a:avLst/>
            </a:prstGeom>
            <a:ln w="1270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2" name="TextBox 281"/>
            <p:cNvSpPr txBox="1"/>
            <p:nvPr/>
          </p:nvSpPr>
          <p:spPr>
            <a:xfrm>
              <a:off x="2581702" y="4150040"/>
              <a:ext cx="96012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EFFFF8"/>
                  </a:solidFill>
                  <a:latin typeface="Tahoma"/>
                </a:rPr>
                <a:t>FPS</a:t>
              </a:r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2578608" y="4334256"/>
              <a:ext cx="9601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dirty="0">
                  <a:solidFill>
                    <a:srgbClr val="1EF28D"/>
                  </a:solidFill>
                  <a:latin typeface="Arial"/>
                </a:rPr>
                <a:t>10</a:t>
              </a:r>
            </a:p>
          </p:txBody>
        </p:sp>
      </p:grpSp>
      <p:grpSp>
        <p:nvGrpSpPr>
          <p:cNvPr id="521" name="Group 520">
            <a:extLst>
              <a:ext uri="{FF2B5EF4-FFF2-40B4-BE49-F238E27FC236}">
                <a16:creationId xmlns:a16="http://schemas.microsoft.com/office/drawing/2014/main" id="{1A560C3A-08F4-4493-A856-8FDD2F2BB723}"/>
              </a:ext>
            </a:extLst>
          </p:cNvPr>
          <p:cNvGrpSpPr/>
          <p:nvPr/>
        </p:nvGrpSpPr>
        <p:grpSpPr>
          <a:xfrm>
            <a:off x="3749039" y="4041648"/>
            <a:ext cx="1641349" cy="594360"/>
            <a:chOff x="3749039" y="4041648"/>
            <a:chExt cx="1641349" cy="594360"/>
          </a:xfrm>
        </p:grpSpPr>
        <p:sp>
          <p:nvSpPr>
            <p:cNvPr id="285" name="Rounded Rectangle 284"/>
            <p:cNvSpPr/>
            <p:nvPr/>
          </p:nvSpPr>
          <p:spPr>
            <a:xfrm>
              <a:off x="3749039" y="4041648"/>
              <a:ext cx="1627632" cy="59436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Rectangle 285"/>
            <p:cNvSpPr/>
            <p:nvPr/>
          </p:nvSpPr>
          <p:spPr>
            <a:xfrm>
              <a:off x="3929634" y="4406950"/>
              <a:ext cx="150876" cy="105613"/>
            </a:xfrm>
            <a:prstGeom prst="rect">
              <a:avLst/>
            </a:prstGeom>
            <a:solidFill>
              <a:srgbClr val="061F16"/>
            </a:solidFill>
            <a:ln w="1270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7" name="Connector 286"/>
            <p:cNvCxnSpPr>
              <a:cxnSpLocks/>
            </p:cNvCxnSpPr>
            <p:nvPr/>
          </p:nvCxnSpPr>
          <p:spPr>
            <a:xfrm flipV="1">
              <a:off x="4005072" y="4256074"/>
              <a:ext cx="0" cy="150876"/>
            </a:xfrm>
            <a:prstGeom prst="line">
              <a:avLst/>
            </a:prstGeom>
            <a:ln w="15240">
              <a:solidFill>
                <a:srgbClr val="1EF28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8" name="Oval 287"/>
            <p:cNvSpPr/>
            <p:nvPr/>
          </p:nvSpPr>
          <p:spPr>
            <a:xfrm>
              <a:off x="3839108" y="4225899"/>
              <a:ext cx="135788" cy="135788"/>
            </a:xfrm>
            <a:prstGeom prst="ellipse">
              <a:avLst/>
            </a:prstGeom>
            <a:noFill/>
            <a:ln w="1270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9" name="Oval 288"/>
            <p:cNvSpPr/>
            <p:nvPr/>
          </p:nvSpPr>
          <p:spPr>
            <a:xfrm>
              <a:off x="4035247" y="4225899"/>
              <a:ext cx="135788" cy="135788"/>
            </a:xfrm>
            <a:prstGeom prst="ellipse">
              <a:avLst/>
            </a:prstGeom>
            <a:noFill/>
            <a:ln w="1270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0" name="TextBox 289"/>
            <p:cNvSpPr txBox="1"/>
            <p:nvPr/>
          </p:nvSpPr>
          <p:spPr>
            <a:xfrm>
              <a:off x="4274223" y="4158233"/>
              <a:ext cx="1108582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 dirty="0" err="1">
                  <a:solidFill>
                    <a:srgbClr val="EFFFF8"/>
                  </a:solidFill>
                  <a:latin typeface="Tahoma"/>
                </a:rPr>
                <a:t>จำนวนคลาส</a:t>
              </a:r>
              <a:r>
                <a:rPr sz="1000" b="1" dirty="0">
                  <a:solidFill>
                    <a:srgbClr val="EFFFF8"/>
                  </a:solidFill>
                  <a:latin typeface="Tahoma"/>
                </a:rPr>
                <a:t> (Classes)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4315968" y="4334256"/>
              <a:ext cx="9601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>
                  <a:solidFill>
                    <a:srgbClr val="1EF28D"/>
                  </a:solidFill>
                  <a:latin typeface="Arial"/>
                </a:rPr>
                <a:t>2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4567428" y="4386108"/>
              <a:ext cx="822960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 err="1">
                  <a:solidFill>
                    <a:srgbClr val="BEFFE2"/>
                  </a:solidFill>
                  <a:latin typeface="Tahoma"/>
                </a:rPr>
                <a:t>ปกติ</a:t>
              </a:r>
              <a:r>
                <a:rPr sz="1000" b="0" dirty="0">
                  <a:solidFill>
                    <a:srgbClr val="BEFFE2"/>
                  </a:solidFill>
                  <a:latin typeface="Tahoma"/>
                </a:rPr>
                <a:t> / </a:t>
              </a:r>
              <a:r>
                <a:rPr sz="1000" b="0" dirty="0" err="1">
                  <a:solidFill>
                    <a:srgbClr val="BEFFE2"/>
                  </a:solidFill>
                  <a:latin typeface="Tahoma"/>
                </a:rPr>
                <a:t>เหี่ยว</a:t>
              </a:r>
              <a:endParaRPr sz="1000" b="0" dirty="0">
                <a:solidFill>
                  <a:srgbClr val="BEFFE2"/>
                </a:solidFill>
                <a:latin typeface="Tahoma"/>
              </a:endParaRPr>
            </a:p>
          </p:txBody>
        </p: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A2CA19FC-5EB6-4C4C-B71D-D2E3EE98A5C0}"/>
              </a:ext>
            </a:extLst>
          </p:cNvPr>
          <p:cNvGrpSpPr/>
          <p:nvPr/>
        </p:nvGrpSpPr>
        <p:grpSpPr>
          <a:xfrm>
            <a:off x="5486399" y="4041648"/>
            <a:ext cx="1634490" cy="594360"/>
            <a:chOff x="5486399" y="4041648"/>
            <a:chExt cx="1634490" cy="594360"/>
          </a:xfrm>
        </p:grpSpPr>
        <p:sp>
          <p:nvSpPr>
            <p:cNvPr id="293" name="Rounded Rectangle 292"/>
            <p:cNvSpPr/>
            <p:nvPr/>
          </p:nvSpPr>
          <p:spPr>
            <a:xfrm>
              <a:off x="5486399" y="4041648"/>
              <a:ext cx="1627632" cy="59436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4" name="Rounded Rectangle 293"/>
            <p:cNvSpPr/>
            <p:nvPr/>
          </p:nvSpPr>
          <p:spPr>
            <a:xfrm>
              <a:off x="5586983" y="4256531"/>
              <a:ext cx="384048" cy="192024"/>
            </a:xfrm>
            <a:prstGeom prst="roundRect">
              <a:avLst/>
            </a:prstGeom>
            <a:solidFill>
              <a:srgbClr val="061F16"/>
            </a:solidFill>
            <a:ln w="1270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5640750" y="4321820"/>
              <a:ext cx="276514" cy="6144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00" b="1" dirty="0">
                  <a:solidFill>
                    <a:srgbClr val="1EF28D"/>
                  </a:solidFill>
                  <a:latin typeface="Arial"/>
                </a:rPr>
                <a:t>MQTT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6053326" y="4187952"/>
              <a:ext cx="1067563" cy="1384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900" b="1" dirty="0" err="1">
                  <a:solidFill>
                    <a:srgbClr val="EFFFF8"/>
                  </a:solidFill>
                  <a:latin typeface="Tahoma"/>
                </a:rPr>
                <a:t>รูปแบบผลลัพธ์</a:t>
              </a:r>
              <a:r>
                <a:rPr sz="900" b="1" dirty="0">
                  <a:solidFill>
                    <a:srgbClr val="EFFFF8"/>
                  </a:solidFill>
                  <a:latin typeface="Tahoma"/>
                </a:rPr>
                <a:t> (Output)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6053327" y="4334256"/>
              <a:ext cx="960120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700" b="1" dirty="0">
                  <a:solidFill>
                    <a:srgbClr val="1EF28D"/>
                  </a:solidFill>
                  <a:latin typeface="Arial"/>
                </a:rPr>
                <a:t>MQTT</a:t>
              </a:r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41A14D32-5CA2-46B2-AA04-2D87C11A02F9}"/>
              </a:ext>
            </a:extLst>
          </p:cNvPr>
          <p:cNvGrpSpPr/>
          <p:nvPr/>
        </p:nvGrpSpPr>
        <p:grpSpPr>
          <a:xfrm>
            <a:off x="274320" y="4800600"/>
            <a:ext cx="7040880" cy="1371600"/>
            <a:chOff x="274320" y="4800600"/>
            <a:chExt cx="7040880" cy="1371600"/>
          </a:xfrm>
        </p:grpSpPr>
        <p:sp>
          <p:nvSpPr>
            <p:cNvPr id="298" name="Rounded Rectangle 297"/>
            <p:cNvSpPr/>
            <p:nvPr/>
          </p:nvSpPr>
          <p:spPr>
            <a:xfrm>
              <a:off x="274320" y="4800600"/>
              <a:ext cx="7040880" cy="137160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438912" y="4910328"/>
              <a:ext cx="1828800" cy="1828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1">
                  <a:solidFill>
                    <a:srgbClr val="1EF28D"/>
                  </a:solidFill>
                  <a:latin typeface="Tahoma"/>
                </a:rPr>
                <a:t>Overview ของระบบ</a:t>
              </a:r>
            </a:p>
          </p:txBody>
        </p:sp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D2F61242-5B0C-4027-B616-01F4B6A58A81}"/>
              </a:ext>
            </a:extLst>
          </p:cNvPr>
          <p:cNvGrpSpPr/>
          <p:nvPr/>
        </p:nvGrpSpPr>
        <p:grpSpPr>
          <a:xfrm>
            <a:off x="690754" y="5193792"/>
            <a:ext cx="6181343" cy="960120"/>
            <a:chOff x="438912" y="5193792"/>
            <a:chExt cx="6181343" cy="960120"/>
          </a:xfrm>
        </p:grpSpPr>
        <p:sp>
          <p:nvSpPr>
            <p:cNvPr id="307" name="Oval 306"/>
            <p:cNvSpPr/>
            <p:nvPr/>
          </p:nvSpPr>
          <p:spPr>
            <a:xfrm>
              <a:off x="972555" y="5531388"/>
              <a:ext cx="66568" cy="66568"/>
            </a:xfrm>
            <a:prstGeom prst="ellipse">
              <a:avLst/>
            </a:prstGeom>
            <a:noFill/>
            <a:ln w="12700">
              <a:solidFill>
                <a:srgbClr val="EFFFF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A7E5B5FE-CD1A-4706-8C8D-792F9022DE9B}"/>
                </a:ext>
              </a:extLst>
            </p:cNvPr>
            <p:cNvGrpSpPr/>
            <p:nvPr/>
          </p:nvGrpSpPr>
          <p:grpSpPr>
            <a:xfrm>
              <a:off x="438912" y="5193792"/>
              <a:ext cx="804672" cy="960120"/>
              <a:chOff x="438912" y="5193792"/>
              <a:chExt cx="804672" cy="960120"/>
            </a:xfrm>
          </p:grpSpPr>
          <p:sp>
            <p:nvSpPr>
              <p:cNvPr id="300" name="Rounded Rectangle 299"/>
              <p:cNvSpPr/>
              <p:nvPr/>
            </p:nvSpPr>
            <p:spPr>
              <a:xfrm>
                <a:off x="438912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1" name="TextBox 300"/>
              <p:cNvSpPr txBox="1"/>
              <p:nvPr/>
            </p:nvSpPr>
            <p:spPr>
              <a:xfrm>
                <a:off x="475488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Plant + Camera</a:t>
                </a:r>
              </a:p>
            </p:txBody>
          </p:sp>
          <p:sp>
            <p:nvSpPr>
              <p:cNvPr id="302" name="Rectangle 301"/>
              <p:cNvSpPr/>
              <p:nvPr/>
            </p:nvSpPr>
            <p:spPr>
              <a:xfrm>
                <a:off x="642366" y="5581954"/>
                <a:ext cx="105156" cy="73609"/>
              </a:xfrm>
              <a:prstGeom prst="rect">
                <a:avLst/>
              </a:prstGeom>
              <a:solidFill>
                <a:srgbClr val="061F16"/>
              </a:solidFill>
              <a:ln w="1270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03" name="Connector 302"/>
              <p:cNvCxnSpPr>
                <a:cxnSpLocks/>
              </p:cNvCxnSpPr>
              <p:nvPr/>
            </p:nvCxnSpPr>
            <p:spPr>
              <a:xfrm flipV="1">
                <a:off x="694944" y="5476798"/>
                <a:ext cx="0" cy="105156"/>
              </a:xfrm>
              <a:prstGeom prst="line">
                <a:avLst/>
              </a:prstGeom>
              <a:ln w="1524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4" name="Oval 303"/>
              <p:cNvSpPr/>
              <p:nvPr/>
            </p:nvSpPr>
            <p:spPr>
              <a:xfrm>
                <a:off x="579272" y="5455767"/>
                <a:ext cx="94640" cy="94640"/>
              </a:xfrm>
              <a:prstGeom prst="ellipse">
                <a:avLst/>
              </a:prstGeom>
              <a:noFill/>
              <a:ln w="1270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5" name="Oval 304"/>
              <p:cNvSpPr/>
              <p:nvPr/>
            </p:nvSpPr>
            <p:spPr>
              <a:xfrm>
                <a:off x="715975" y="5455767"/>
                <a:ext cx="94640" cy="94640"/>
              </a:xfrm>
              <a:prstGeom prst="ellipse">
                <a:avLst/>
              </a:prstGeom>
              <a:noFill/>
              <a:ln w="1270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Rounded Rectangle 305"/>
              <p:cNvSpPr/>
              <p:nvPr/>
            </p:nvSpPr>
            <p:spPr>
              <a:xfrm>
                <a:off x="898855" y="5490972"/>
                <a:ext cx="213969" cy="130759"/>
              </a:xfrm>
              <a:prstGeom prst="roundRect">
                <a:avLst/>
              </a:prstGeom>
              <a:solidFill>
                <a:srgbClr val="061F16"/>
              </a:solidFill>
              <a:ln w="12700">
                <a:solidFill>
                  <a:srgbClr val="EF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8" name="Rectangle 307"/>
              <p:cNvSpPr/>
              <p:nvPr/>
            </p:nvSpPr>
            <p:spPr>
              <a:xfrm>
                <a:off x="929761" y="5450555"/>
                <a:ext cx="52303" cy="30906"/>
              </a:xfrm>
              <a:prstGeom prst="rect">
                <a:avLst/>
              </a:prstGeom>
              <a:solidFill>
                <a:srgbClr val="061F16"/>
              </a:solidFill>
              <a:ln w="12700">
                <a:solidFill>
                  <a:srgbClr val="EF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9" name="TextBox 308"/>
              <p:cNvSpPr txBox="1"/>
              <p:nvPr/>
            </p:nvSpPr>
            <p:spPr>
              <a:xfrm>
                <a:off x="493776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ต้นพืชและกล้อง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จับภาพ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</p:txBody>
          </p:sp>
        </p:grpSp>
        <p:sp>
          <p:nvSpPr>
            <p:cNvPr id="310" name="TextBox 309"/>
            <p:cNvSpPr txBox="1"/>
            <p:nvPr/>
          </p:nvSpPr>
          <p:spPr>
            <a:xfrm>
              <a:off x="1225295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 dirty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26" name="Group 525">
              <a:extLst>
                <a:ext uri="{FF2B5EF4-FFF2-40B4-BE49-F238E27FC236}">
                  <a16:creationId xmlns:a16="http://schemas.microsoft.com/office/drawing/2014/main" id="{55484734-BCDD-4440-8DCD-26146168A950}"/>
                </a:ext>
              </a:extLst>
            </p:cNvPr>
            <p:cNvGrpSpPr/>
            <p:nvPr/>
          </p:nvGrpSpPr>
          <p:grpSpPr>
            <a:xfrm>
              <a:off x="1335024" y="5193792"/>
              <a:ext cx="804672" cy="960120"/>
              <a:chOff x="1335024" y="5193792"/>
              <a:chExt cx="804672" cy="960120"/>
            </a:xfrm>
          </p:grpSpPr>
          <p:sp>
            <p:nvSpPr>
              <p:cNvPr id="311" name="Rounded Rectangle 310"/>
              <p:cNvSpPr/>
              <p:nvPr/>
            </p:nvSpPr>
            <p:spPr>
              <a:xfrm>
                <a:off x="1335024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2" name="TextBox 311"/>
              <p:cNvSpPr txBox="1"/>
              <p:nvPr/>
            </p:nvSpPr>
            <p:spPr>
              <a:xfrm>
                <a:off x="1371600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Coral Dev Board Micro</a:t>
                </a:r>
              </a:p>
            </p:txBody>
          </p:sp>
          <p:cxnSp>
            <p:nvCxnSpPr>
              <p:cNvPr id="313" name="Connector 312"/>
              <p:cNvCxnSpPr>
                <a:cxnSpLocks/>
              </p:cNvCxnSpPr>
              <p:nvPr/>
            </p:nvCxnSpPr>
            <p:spPr>
              <a:xfrm flipV="1">
                <a:off x="1506016" y="5421477"/>
                <a:ext cx="231344" cy="231343"/>
              </a:xfrm>
              <a:prstGeom prst="line">
                <a:avLst/>
              </a:prstGeom>
              <a:ln w="1270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Connector 313"/>
              <p:cNvCxnSpPr>
                <a:cxnSpLocks/>
              </p:cNvCxnSpPr>
              <p:nvPr/>
            </p:nvCxnSpPr>
            <p:spPr>
              <a:xfrm>
                <a:off x="1737360" y="5421477"/>
                <a:ext cx="231343" cy="84125"/>
              </a:xfrm>
              <a:prstGeom prst="line">
                <a:avLst/>
              </a:prstGeom>
              <a:ln w="1270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Connector 314"/>
              <p:cNvCxnSpPr>
                <a:cxnSpLocks/>
              </p:cNvCxnSpPr>
              <p:nvPr/>
            </p:nvCxnSpPr>
            <p:spPr>
              <a:xfrm flipH="1">
                <a:off x="1737360" y="5505602"/>
                <a:ext cx="231343" cy="231343"/>
              </a:xfrm>
              <a:prstGeom prst="line">
                <a:avLst/>
              </a:prstGeom>
              <a:ln w="1270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Connector 315"/>
              <p:cNvCxnSpPr>
                <a:cxnSpLocks/>
              </p:cNvCxnSpPr>
              <p:nvPr/>
            </p:nvCxnSpPr>
            <p:spPr>
              <a:xfrm flipH="1" flipV="1">
                <a:off x="1506016" y="5652820"/>
                <a:ext cx="231344" cy="84125"/>
              </a:xfrm>
              <a:prstGeom prst="line">
                <a:avLst/>
              </a:prstGeom>
              <a:ln w="1270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7" name="Rectangle 316"/>
              <p:cNvSpPr/>
              <p:nvPr/>
            </p:nvSpPr>
            <p:spPr>
              <a:xfrm>
                <a:off x="1678472" y="5526633"/>
                <a:ext cx="117774" cy="75712"/>
              </a:xfrm>
              <a:prstGeom prst="rect">
                <a:avLst/>
              </a:prstGeom>
              <a:solidFill>
                <a:srgbClr val="B4C8BE"/>
              </a:solidFill>
              <a:ln w="6350">
                <a:solidFill>
                  <a:srgbClr val="B4C8BE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8" name="TextBox 317"/>
              <p:cNvSpPr txBox="1"/>
              <p:nvPr/>
            </p:nvSpPr>
            <p:spPr>
              <a:xfrm>
                <a:off x="1389888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900" b="0">
                    <a:solidFill>
                      <a:srgbClr val="EFFFF8"/>
                    </a:solidFill>
                    <a:latin typeface="Tahoma"/>
                  </a:rPr>
                  <a:t>ประมวลผลภาพด้วย</a:t>
                </a:r>
              </a:p>
              <a:p>
                <a:pPr algn="ctr"/>
                <a:r>
                  <a:rPr sz="900" b="0">
                    <a:solidFill>
                      <a:srgbClr val="EFFFF8"/>
                    </a:solidFill>
                    <a:latin typeface="Tahoma"/>
                  </a:rPr>
                  <a:t>Edge TPU</a:t>
                </a:r>
              </a:p>
            </p:txBody>
          </p:sp>
        </p:grpSp>
        <p:sp>
          <p:nvSpPr>
            <p:cNvPr id="319" name="TextBox 318"/>
            <p:cNvSpPr txBox="1"/>
            <p:nvPr/>
          </p:nvSpPr>
          <p:spPr>
            <a:xfrm>
              <a:off x="2121408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27" name="Group 526">
              <a:extLst>
                <a:ext uri="{FF2B5EF4-FFF2-40B4-BE49-F238E27FC236}">
                  <a16:creationId xmlns:a16="http://schemas.microsoft.com/office/drawing/2014/main" id="{8CA1F702-BE86-4EB8-BFD8-0586B26E5AB9}"/>
                </a:ext>
              </a:extLst>
            </p:cNvPr>
            <p:cNvGrpSpPr/>
            <p:nvPr/>
          </p:nvGrpSpPr>
          <p:grpSpPr>
            <a:xfrm>
              <a:off x="2231136" y="5193792"/>
              <a:ext cx="804672" cy="960120"/>
              <a:chOff x="2231136" y="5193792"/>
              <a:chExt cx="804672" cy="960120"/>
            </a:xfrm>
          </p:grpSpPr>
          <p:cxnSp>
            <p:nvCxnSpPr>
              <p:cNvPr id="324" name="Connector 323"/>
              <p:cNvCxnSpPr>
                <a:cxnSpLocks/>
              </p:cNvCxnSpPr>
              <p:nvPr/>
            </p:nvCxnSpPr>
            <p:spPr>
              <a:xfrm>
                <a:off x="2748686" y="5477256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Connector 327"/>
              <p:cNvCxnSpPr>
                <a:cxnSpLocks/>
              </p:cNvCxnSpPr>
              <p:nvPr/>
            </p:nvCxnSpPr>
            <p:spPr>
              <a:xfrm>
                <a:off x="2748686" y="5559552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Connector 328"/>
              <p:cNvCxnSpPr>
                <a:cxnSpLocks/>
              </p:cNvCxnSpPr>
              <p:nvPr/>
            </p:nvCxnSpPr>
            <p:spPr>
              <a:xfrm>
                <a:off x="2633472" y="5378500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Connector 331"/>
              <p:cNvCxnSpPr>
                <a:cxnSpLocks/>
              </p:cNvCxnSpPr>
              <p:nvPr/>
            </p:nvCxnSpPr>
            <p:spPr>
              <a:xfrm>
                <a:off x="2748686" y="5641848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6" name="TextBox 335"/>
              <p:cNvSpPr txBox="1"/>
              <p:nvPr/>
            </p:nvSpPr>
            <p:spPr>
              <a:xfrm>
                <a:off x="2779776" y="5436108"/>
                <a:ext cx="182880" cy="3657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250" b="0">
                    <a:solidFill>
                      <a:srgbClr val="1EF28D"/>
                    </a:solidFill>
                    <a:latin typeface="Tahoma"/>
                  </a:rPr>
                  <a:t>NORMAL</a:t>
                </a:r>
              </a:p>
            </p:txBody>
          </p:sp>
          <p:sp>
            <p:nvSpPr>
              <p:cNvPr id="338" name="TextBox 337"/>
              <p:cNvSpPr txBox="1"/>
              <p:nvPr/>
            </p:nvSpPr>
            <p:spPr>
              <a:xfrm>
                <a:off x="2779776" y="5618988"/>
                <a:ext cx="182880" cy="3657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250" b="0">
                    <a:solidFill>
                      <a:srgbClr val="FF5858"/>
                    </a:solidFill>
                    <a:latin typeface="Tahoma"/>
                  </a:rPr>
                  <a:t>WITHER</a:t>
                </a:r>
              </a:p>
            </p:txBody>
          </p:sp>
          <p:sp>
            <p:nvSpPr>
              <p:cNvPr id="320" name="Rounded Rectangle 319"/>
              <p:cNvSpPr/>
              <p:nvPr/>
            </p:nvSpPr>
            <p:spPr>
              <a:xfrm>
                <a:off x="2231136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1" name="TextBox 320"/>
              <p:cNvSpPr txBox="1"/>
              <p:nvPr/>
            </p:nvSpPr>
            <p:spPr>
              <a:xfrm>
                <a:off x="2267712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AI Detection</a:t>
                </a:r>
              </a:p>
            </p:txBody>
          </p:sp>
          <p:sp>
            <p:nvSpPr>
              <p:cNvPr id="322" name="Rectangle 321"/>
              <p:cNvSpPr/>
              <p:nvPr/>
            </p:nvSpPr>
            <p:spPr>
              <a:xfrm>
                <a:off x="2518257" y="5444337"/>
                <a:ext cx="230428" cy="230428"/>
              </a:xfrm>
              <a:prstGeom prst="rect">
                <a:avLst/>
              </a:prstGeom>
              <a:solidFill>
                <a:srgbClr val="061F16"/>
              </a:solidFill>
              <a:ln w="1270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23" name="Connector 322"/>
              <p:cNvCxnSpPr/>
              <p:nvPr/>
            </p:nvCxnSpPr>
            <p:spPr>
              <a:xfrm>
                <a:off x="2452420" y="5477256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Connector 324"/>
              <p:cNvCxnSpPr/>
              <p:nvPr/>
            </p:nvCxnSpPr>
            <p:spPr>
              <a:xfrm>
                <a:off x="2551176" y="5378500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Connector 325"/>
              <p:cNvCxnSpPr/>
              <p:nvPr/>
            </p:nvCxnSpPr>
            <p:spPr>
              <a:xfrm>
                <a:off x="2551176" y="5674766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Connector 326"/>
              <p:cNvCxnSpPr/>
              <p:nvPr/>
            </p:nvCxnSpPr>
            <p:spPr>
              <a:xfrm>
                <a:off x="2452420" y="5559552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Connector 329"/>
              <p:cNvCxnSpPr/>
              <p:nvPr/>
            </p:nvCxnSpPr>
            <p:spPr>
              <a:xfrm>
                <a:off x="2633472" y="5674766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Connector 330"/>
              <p:cNvCxnSpPr/>
              <p:nvPr/>
            </p:nvCxnSpPr>
            <p:spPr>
              <a:xfrm>
                <a:off x="2452420" y="5641848"/>
                <a:ext cx="65837" cy="0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Connector 332"/>
              <p:cNvCxnSpPr/>
              <p:nvPr/>
            </p:nvCxnSpPr>
            <p:spPr>
              <a:xfrm>
                <a:off x="2715768" y="5378500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Connector 333"/>
              <p:cNvCxnSpPr/>
              <p:nvPr/>
            </p:nvCxnSpPr>
            <p:spPr>
              <a:xfrm>
                <a:off x="2715768" y="5674766"/>
                <a:ext cx="0" cy="65837"/>
              </a:xfrm>
              <a:prstGeom prst="line">
                <a:avLst/>
              </a:prstGeom>
              <a:ln w="1016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Rounded Rectangle 334"/>
              <p:cNvSpPr/>
              <p:nvPr/>
            </p:nvSpPr>
            <p:spPr>
              <a:xfrm>
                <a:off x="2770632" y="5413248"/>
                <a:ext cx="201168" cy="146304"/>
              </a:xfrm>
              <a:prstGeom prst="roundRect">
                <a:avLst/>
              </a:prstGeom>
              <a:solidFill>
                <a:srgbClr val="061F16"/>
              </a:solidFill>
              <a:ln w="635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7" name="Rounded Rectangle 336"/>
              <p:cNvSpPr/>
              <p:nvPr/>
            </p:nvSpPr>
            <p:spPr>
              <a:xfrm>
                <a:off x="2770632" y="5596128"/>
                <a:ext cx="201168" cy="146304"/>
              </a:xfrm>
              <a:prstGeom prst="roundRect">
                <a:avLst/>
              </a:prstGeom>
              <a:solidFill>
                <a:srgbClr val="061F16"/>
              </a:solidFill>
              <a:ln w="6350">
                <a:solidFill>
                  <a:srgbClr val="FF585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9" name="TextBox 338"/>
              <p:cNvSpPr txBox="1"/>
              <p:nvPr/>
            </p:nvSpPr>
            <p:spPr>
              <a:xfrm>
                <a:off x="2286000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ตรวจจับสภาพต้นพืช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(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ปกติ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/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เหี่ยว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)</a:t>
                </a:r>
              </a:p>
            </p:txBody>
          </p:sp>
        </p:grpSp>
        <p:sp>
          <p:nvSpPr>
            <p:cNvPr id="340" name="TextBox 339"/>
            <p:cNvSpPr txBox="1"/>
            <p:nvPr/>
          </p:nvSpPr>
          <p:spPr>
            <a:xfrm>
              <a:off x="3017520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28" name="Group 527">
              <a:extLst>
                <a:ext uri="{FF2B5EF4-FFF2-40B4-BE49-F238E27FC236}">
                  <a16:creationId xmlns:a16="http://schemas.microsoft.com/office/drawing/2014/main" id="{E1D49E0B-B424-480A-A4B1-A5481D168FCB}"/>
                </a:ext>
              </a:extLst>
            </p:cNvPr>
            <p:cNvGrpSpPr/>
            <p:nvPr/>
          </p:nvGrpSpPr>
          <p:grpSpPr>
            <a:xfrm>
              <a:off x="3127248" y="5193792"/>
              <a:ext cx="804672" cy="960120"/>
              <a:chOff x="3127248" y="5193792"/>
              <a:chExt cx="804672" cy="960120"/>
            </a:xfrm>
          </p:grpSpPr>
          <p:sp>
            <p:nvSpPr>
              <p:cNvPr id="341" name="Rounded Rectangle 340"/>
              <p:cNvSpPr/>
              <p:nvPr/>
            </p:nvSpPr>
            <p:spPr>
              <a:xfrm>
                <a:off x="3127248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2" name="TextBox 341"/>
              <p:cNvSpPr txBox="1"/>
              <p:nvPr/>
            </p:nvSpPr>
            <p:spPr>
              <a:xfrm>
                <a:off x="3163824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Python GUI</a:t>
                </a:r>
              </a:p>
            </p:txBody>
          </p:sp>
          <p:sp>
            <p:nvSpPr>
              <p:cNvPr id="343" name="Rectangle 342"/>
              <p:cNvSpPr/>
              <p:nvPr/>
            </p:nvSpPr>
            <p:spPr>
              <a:xfrm>
                <a:off x="3328415" y="5421660"/>
                <a:ext cx="402336" cy="233354"/>
              </a:xfrm>
              <a:prstGeom prst="rect">
                <a:avLst/>
              </a:prstGeom>
              <a:solidFill>
                <a:srgbClr val="061F16"/>
              </a:solidFill>
              <a:ln w="1270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4" name="Connector 343"/>
              <p:cNvCxnSpPr>
                <a:cxnSpLocks/>
              </p:cNvCxnSpPr>
              <p:nvPr/>
            </p:nvCxnSpPr>
            <p:spPr>
              <a:xfrm>
                <a:off x="3296229" y="5699272"/>
                <a:ext cx="466709" cy="0"/>
              </a:xfrm>
              <a:prstGeom prst="line">
                <a:avLst/>
              </a:prstGeom>
              <a:ln w="1524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Connector 344"/>
              <p:cNvCxnSpPr>
                <a:cxnSpLocks/>
              </p:cNvCxnSpPr>
              <p:nvPr/>
            </p:nvCxnSpPr>
            <p:spPr>
              <a:xfrm flipV="1">
                <a:off x="3429000" y="5518221"/>
                <a:ext cx="80467" cy="72420"/>
              </a:xfrm>
              <a:prstGeom prst="line">
                <a:avLst/>
              </a:prstGeom>
              <a:ln w="1270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Connector 345"/>
              <p:cNvCxnSpPr>
                <a:cxnSpLocks/>
              </p:cNvCxnSpPr>
              <p:nvPr/>
            </p:nvCxnSpPr>
            <p:spPr>
              <a:xfrm>
                <a:off x="3509467" y="5518221"/>
                <a:ext cx="80467" cy="44257"/>
              </a:xfrm>
              <a:prstGeom prst="line">
                <a:avLst/>
              </a:prstGeom>
              <a:ln w="1270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Connector 346"/>
              <p:cNvCxnSpPr>
                <a:cxnSpLocks/>
              </p:cNvCxnSpPr>
              <p:nvPr/>
            </p:nvCxnSpPr>
            <p:spPr>
              <a:xfrm flipV="1">
                <a:off x="3589934" y="5490057"/>
                <a:ext cx="60350" cy="72421"/>
              </a:xfrm>
              <a:prstGeom prst="line">
                <a:avLst/>
              </a:prstGeom>
              <a:ln w="12700">
                <a:solidFill>
                  <a:srgbClr val="1EF28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8" name="TextBox 347"/>
              <p:cNvSpPr txBox="1"/>
              <p:nvPr/>
            </p:nvSpPr>
            <p:spPr>
              <a:xfrm>
                <a:off x="3182112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แสดงผล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และบันทึก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ผลการตรวจจับ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</p:txBody>
          </p:sp>
        </p:grpSp>
        <p:sp>
          <p:nvSpPr>
            <p:cNvPr id="349" name="TextBox 348"/>
            <p:cNvSpPr txBox="1"/>
            <p:nvPr/>
          </p:nvSpPr>
          <p:spPr>
            <a:xfrm>
              <a:off x="3913632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47D6045C-5747-44A2-A0C7-F83DA73051BE}"/>
                </a:ext>
              </a:extLst>
            </p:cNvPr>
            <p:cNvGrpSpPr/>
            <p:nvPr/>
          </p:nvGrpSpPr>
          <p:grpSpPr>
            <a:xfrm>
              <a:off x="4023360" y="5193792"/>
              <a:ext cx="804672" cy="960120"/>
              <a:chOff x="4023360" y="5193792"/>
              <a:chExt cx="804672" cy="960120"/>
            </a:xfrm>
          </p:grpSpPr>
          <p:sp>
            <p:nvSpPr>
              <p:cNvPr id="350" name="Rounded Rectangle 349"/>
              <p:cNvSpPr/>
              <p:nvPr/>
            </p:nvSpPr>
            <p:spPr>
              <a:xfrm>
                <a:off x="4023360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1" name="TextBox 350"/>
              <p:cNvSpPr txBox="1"/>
              <p:nvPr/>
            </p:nvSpPr>
            <p:spPr>
              <a:xfrm>
                <a:off x="4059936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MQTT Broker</a:t>
                </a:r>
              </a:p>
            </p:txBody>
          </p:sp>
          <p:sp>
            <p:nvSpPr>
              <p:cNvPr id="352" name="Rounded Rectangle 351"/>
              <p:cNvSpPr/>
              <p:nvPr/>
            </p:nvSpPr>
            <p:spPr>
              <a:xfrm>
                <a:off x="4261104" y="5468112"/>
                <a:ext cx="329184" cy="164592"/>
              </a:xfrm>
              <a:prstGeom prst="roundRect">
                <a:avLst/>
              </a:prstGeom>
              <a:solidFill>
                <a:srgbClr val="061F16"/>
              </a:solidFill>
              <a:ln w="12700">
                <a:solidFill>
                  <a:srgbClr val="49A0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3" name="TextBox 352"/>
              <p:cNvSpPr txBox="1"/>
              <p:nvPr/>
            </p:nvSpPr>
            <p:spPr>
              <a:xfrm>
                <a:off x="4307189" y="5524073"/>
                <a:ext cx="237012" cy="5266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300" b="1">
                    <a:solidFill>
                      <a:srgbClr val="49A0FF"/>
                    </a:solidFill>
                    <a:latin typeface="Arial"/>
                  </a:rPr>
                  <a:t>MQTT</a:t>
                </a:r>
              </a:p>
            </p:txBody>
          </p:sp>
          <p:sp>
            <p:nvSpPr>
              <p:cNvPr id="354" name="TextBox 353"/>
              <p:cNvSpPr txBox="1"/>
              <p:nvPr/>
            </p:nvSpPr>
            <p:spPr>
              <a:xfrm>
                <a:off x="4078224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รับ-ส่งข้อมูล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ผ่าน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MQTT</a:t>
                </a:r>
              </a:p>
            </p:txBody>
          </p:sp>
        </p:grpSp>
        <p:sp>
          <p:nvSpPr>
            <p:cNvPr id="355" name="TextBox 354"/>
            <p:cNvSpPr txBox="1"/>
            <p:nvPr/>
          </p:nvSpPr>
          <p:spPr>
            <a:xfrm>
              <a:off x="4809744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30" name="Group 529">
              <a:extLst>
                <a:ext uri="{FF2B5EF4-FFF2-40B4-BE49-F238E27FC236}">
                  <a16:creationId xmlns:a16="http://schemas.microsoft.com/office/drawing/2014/main" id="{A56A81AC-F1F7-4E27-9511-432A8F438485}"/>
                </a:ext>
              </a:extLst>
            </p:cNvPr>
            <p:cNvGrpSpPr/>
            <p:nvPr/>
          </p:nvGrpSpPr>
          <p:grpSpPr>
            <a:xfrm>
              <a:off x="4919472" y="5193792"/>
              <a:ext cx="804672" cy="960120"/>
              <a:chOff x="4919472" y="5193792"/>
              <a:chExt cx="804672" cy="960120"/>
            </a:xfrm>
          </p:grpSpPr>
          <p:sp>
            <p:nvSpPr>
              <p:cNvPr id="356" name="Rounded Rectangle 355"/>
              <p:cNvSpPr/>
              <p:nvPr/>
            </p:nvSpPr>
            <p:spPr>
              <a:xfrm>
                <a:off x="4919472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7" name="TextBox 356"/>
              <p:cNvSpPr txBox="1"/>
              <p:nvPr/>
            </p:nvSpPr>
            <p:spPr>
              <a:xfrm>
                <a:off x="4956048" y="5248656"/>
                <a:ext cx="73152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470" b="1">
                    <a:solidFill>
                      <a:srgbClr val="EFFFF8"/>
                    </a:solidFill>
                    <a:latin typeface="Tahoma"/>
                  </a:rPr>
                  <a:t>ESP32</a:t>
                </a:r>
              </a:p>
            </p:txBody>
          </p:sp>
          <p:sp>
            <p:nvSpPr>
              <p:cNvPr id="358" name="Rectangle 357"/>
              <p:cNvSpPr/>
              <p:nvPr/>
            </p:nvSpPr>
            <p:spPr>
              <a:xfrm>
                <a:off x="5193792" y="5422392"/>
                <a:ext cx="256031" cy="256031"/>
              </a:xfrm>
              <a:prstGeom prst="rect">
                <a:avLst/>
              </a:prstGeom>
              <a:solidFill>
                <a:srgbClr val="061F16"/>
              </a:solidFill>
              <a:ln w="12700">
                <a:solidFill>
                  <a:srgbClr val="EFFFF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9" name="Connector 358"/>
              <p:cNvCxnSpPr>
                <a:cxnSpLocks/>
              </p:cNvCxnSpPr>
              <p:nvPr/>
            </p:nvCxnSpPr>
            <p:spPr>
              <a:xfrm>
                <a:off x="5120640" y="545896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Connector 359"/>
              <p:cNvCxnSpPr>
                <a:cxnSpLocks/>
              </p:cNvCxnSpPr>
              <p:nvPr/>
            </p:nvCxnSpPr>
            <p:spPr>
              <a:xfrm>
                <a:off x="5449824" y="545896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Connector 360"/>
              <p:cNvCxnSpPr>
                <a:cxnSpLocks/>
              </p:cNvCxnSpPr>
              <p:nvPr/>
            </p:nvCxnSpPr>
            <p:spPr>
              <a:xfrm>
                <a:off x="5230368" y="5349240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Connector 361"/>
              <p:cNvCxnSpPr>
                <a:cxnSpLocks/>
              </p:cNvCxnSpPr>
              <p:nvPr/>
            </p:nvCxnSpPr>
            <p:spPr>
              <a:xfrm>
                <a:off x="5230368" y="5678424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Connector 362"/>
              <p:cNvCxnSpPr>
                <a:cxnSpLocks/>
              </p:cNvCxnSpPr>
              <p:nvPr/>
            </p:nvCxnSpPr>
            <p:spPr>
              <a:xfrm>
                <a:off x="5120640" y="555040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Connector 363"/>
              <p:cNvCxnSpPr>
                <a:cxnSpLocks/>
              </p:cNvCxnSpPr>
              <p:nvPr/>
            </p:nvCxnSpPr>
            <p:spPr>
              <a:xfrm>
                <a:off x="5449824" y="555040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Connector 364"/>
              <p:cNvCxnSpPr>
                <a:cxnSpLocks/>
              </p:cNvCxnSpPr>
              <p:nvPr/>
            </p:nvCxnSpPr>
            <p:spPr>
              <a:xfrm>
                <a:off x="5321808" y="5349240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Connector 365"/>
              <p:cNvCxnSpPr>
                <a:cxnSpLocks/>
              </p:cNvCxnSpPr>
              <p:nvPr/>
            </p:nvCxnSpPr>
            <p:spPr>
              <a:xfrm>
                <a:off x="5321808" y="5678424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Connector 366"/>
              <p:cNvCxnSpPr>
                <a:cxnSpLocks/>
              </p:cNvCxnSpPr>
              <p:nvPr/>
            </p:nvCxnSpPr>
            <p:spPr>
              <a:xfrm>
                <a:off x="5120640" y="564184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Connector 367"/>
              <p:cNvCxnSpPr>
                <a:cxnSpLocks/>
              </p:cNvCxnSpPr>
              <p:nvPr/>
            </p:nvCxnSpPr>
            <p:spPr>
              <a:xfrm>
                <a:off x="5449824" y="5641848"/>
                <a:ext cx="73152" cy="0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Connector 368"/>
              <p:cNvCxnSpPr>
                <a:cxnSpLocks/>
              </p:cNvCxnSpPr>
              <p:nvPr/>
            </p:nvCxnSpPr>
            <p:spPr>
              <a:xfrm>
                <a:off x="5413248" y="5349240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Connector 369"/>
              <p:cNvCxnSpPr>
                <a:cxnSpLocks/>
              </p:cNvCxnSpPr>
              <p:nvPr/>
            </p:nvCxnSpPr>
            <p:spPr>
              <a:xfrm>
                <a:off x="5413248" y="5678424"/>
                <a:ext cx="0" cy="73152"/>
              </a:xfrm>
              <a:prstGeom prst="line">
                <a:avLst/>
              </a:prstGeom>
              <a:ln w="10160">
                <a:solidFill>
                  <a:srgbClr val="EFFFF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1" name="TextBox 370"/>
              <p:cNvSpPr txBox="1"/>
              <p:nvPr/>
            </p:nvSpPr>
            <p:spPr>
              <a:xfrm>
                <a:off x="4974336" y="5852160"/>
                <a:ext cx="694944" cy="246221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รับข้อมูลจาก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MQTT</a:t>
                </a:r>
              </a:p>
              <a:p>
                <a:pPr algn="ctr"/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ควบคุมอุปกรณ์</a:t>
                </a:r>
                <a:endParaRPr sz="800" b="0" dirty="0">
                  <a:solidFill>
                    <a:srgbClr val="EFFFF8"/>
                  </a:solidFill>
                  <a:latin typeface="Tahoma"/>
                </a:endParaRPr>
              </a:p>
            </p:txBody>
          </p:sp>
        </p:grpSp>
        <p:sp>
          <p:nvSpPr>
            <p:cNvPr id="372" name="TextBox 371"/>
            <p:cNvSpPr txBox="1"/>
            <p:nvPr/>
          </p:nvSpPr>
          <p:spPr>
            <a:xfrm>
              <a:off x="5705856" y="5623560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2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9280210F-1B2D-47C6-8E9B-34C40FCC9677}"/>
                </a:ext>
              </a:extLst>
            </p:cNvPr>
            <p:cNvGrpSpPr/>
            <p:nvPr/>
          </p:nvGrpSpPr>
          <p:grpSpPr>
            <a:xfrm>
              <a:off x="5815583" y="5193792"/>
              <a:ext cx="804672" cy="960120"/>
              <a:chOff x="5815583" y="5193792"/>
              <a:chExt cx="804672" cy="960120"/>
            </a:xfrm>
          </p:grpSpPr>
          <p:sp>
            <p:nvSpPr>
              <p:cNvPr id="373" name="Rounded Rectangle 372"/>
              <p:cNvSpPr/>
              <p:nvPr/>
            </p:nvSpPr>
            <p:spPr>
              <a:xfrm>
                <a:off x="5815583" y="5193792"/>
                <a:ext cx="804672" cy="960120"/>
              </a:xfrm>
              <a:prstGeom prst="roundRect">
                <a:avLst/>
              </a:prstGeom>
              <a:solidFill>
                <a:srgbClr val="061F16"/>
              </a:solidFill>
              <a:ln w="1143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4" name="TextBox 373"/>
              <p:cNvSpPr txBox="1"/>
              <p:nvPr/>
            </p:nvSpPr>
            <p:spPr>
              <a:xfrm>
                <a:off x="5852159" y="5248656"/>
                <a:ext cx="731520" cy="923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Actuators &amp; Alerts</a:t>
                </a:r>
              </a:p>
            </p:txBody>
          </p:sp>
          <p:sp>
            <p:nvSpPr>
              <p:cNvPr id="375" name="TextBox 374"/>
              <p:cNvSpPr txBox="1"/>
              <p:nvPr/>
            </p:nvSpPr>
            <p:spPr>
              <a:xfrm>
                <a:off x="5907023" y="5468112"/>
                <a:ext cx="658368" cy="3200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440" b="0" dirty="0">
                    <a:solidFill>
                      <a:srgbClr val="EFFFF8"/>
                    </a:solidFill>
                    <a:latin typeface="Tahoma"/>
                  </a:rPr>
                  <a:t>○ Soil Moisture Sensor
□ Pump
○ Alert</a:t>
                </a:r>
              </a:p>
            </p:txBody>
          </p:sp>
          <p:sp>
            <p:nvSpPr>
              <p:cNvPr id="376" name="TextBox 375"/>
              <p:cNvSpPr txBox="1"/>
              <p:nvPr/>
            </p:nvSpPr>
            <p:spPr>
              <a:xfrm>
                <a:off x="5870447" y="5852160"/>
                <a:ext cx="694944" cy="2769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0" dirty="0">
                    <a:solidFill>
                      <a:srgbClr val="EFFFF8"/>
                    </a:solidFill>
                    <a:latin typeface="Tahoma"/>
                  </a:rPr>
                  <a:t>Soil Moisture Sensor</a:t>
                </a:r>
              </a:p>
              <a:p>
                <a:pPr algn="ctr"/>
                <a:r>
                  <a:rPr sz="600" b="0" dirty="0">
                    <a:solidFill>
                      <a:srgbClr val="EFFFF8"/>
                    </a:solidFill>
                    <a:latin typeface="Tahoma"/>
                  </a:rPr>
                  <a:t>Pump</a:t>
                </a:r>
              </a:p>
              <a:p>
                <a:pPr algn="ctr"/>
                <a:r>
                  <a:rPr sz="600" b="0" dirty="0">
                    <a:solidFill>
                      <a:srgbClr val="EFFFF8"/>
                    </a:solidFill>
                    <a:latin typeface="Tahoma"/>
                  </a:rPr>
                  <a:t>Alert</a:t>
                </a:r>
              </a:p>
            </p:txBody>
          </p:sp>
        </p:grpSp>
      </p:grpSp>
      <p:grpSp>
        <p:nvGrpSpPr>
          <p:cNvPr id="533" name="Group 532">
            <a:extLst>
              <a:ext uri="{FF2B5EF4-FFF2-40B4-BE49-F238E27FC236}">
                <a16:creationId xmlns:a16="http://schemas.microsoft.com/office/drawing/2014/main" id="{70E2A68B-24C8-4228-AA37-45ACF2CE58C6}"/>
              </a:ext>
            </a:extLst>
          </p:cNvPr>
          <p:cNvGrpSpPr/>
          <p:nvPr/>
        </p:nvGrpSpPr>
        <p:grpSpPr>
          <a:xfrm>
            <a:off x="274320" y="6355080"/>
            <a:ext cx="2212848" cy="868680"/>
            <a:chOff x="274320" y="6355080"/>
            <a:chExt cx="2212848" cy="868680"/>
          </a:xfrm>
        </p:grpSpPr>
        <p:sp>
          <p:nvSpPr>
            <p:cNvPr id="377" name="Rounded Rectangle 376"/>
            <p:cNvSpPr/>
            <p:nvPr/>
          </p:nvSpPr>
          <p:spPr>
            <a:xfrm>
              <a:off x="274320" y="6355080"/>
              <a:ext cx="2212848" cy="86868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8" name="TextBox 377"/>
            <p:cNvSpPr txBox="1"/>
            <p:nvPr/>
          </p:nvSpPr>
          <p:spPr>
            <a:xfrm>
              <a:off x="402336" y="6414008"/>
              <a:ext cx="1956815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19" b="1" dirty="0" err="1">
                  <a:solidFill>
                    <a:srgbClr val="1EF28D"/>
                  </a:solidFill>
                  <a:latin typeface="Tahoma"/>
                </a:rPr>
                <a:t>หลักการและเหตุผล</a:t>
              </a:r>
              <a:endParaRPr sz="819" b="1" dirty="0">
                <a:solidFill>
                  <a:srgbClr val="1EF28D"/>
                </a:solidFill>
                <a:latin typeface="Tahoma"/>
              </a:endParaRPr>
            </a:p>
          </p:txBody>
        </p:sp>
        <p:sp>
          <p:nvSpPr>
            <p:cNvPr id="379" name="TextBox 378"/>
            <p:cNvSpPr txBox="1"/>
            <p:nvPr/>
          </p:nvSpPr>
          <p:spPr>
            <a:xfrm>
              <a:off x="402336" y="6610096"/>
              <a:ext cx="1956815" cy="369332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การดูแลต้นไม้ต้องอาศัยมนุษย์คอยสังเกตสภาพใบและความเหี่ยว</a:t>
              </a:r>
              <a:endParaRPr sz="800" b="0" dirty="0">
                <a:solidFill>
                  <a:srgbClr val="EFFFF8"/>
                </a:solidFill>
                <a:latin typeface="Tahoma"/>
              </a:endParaRPr>
            </a:p>
            <a:p>
              <a:pPr algn="l"/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หากไม่มีเวลาดูแล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อาจทำให้ต้นไม้เสียหาย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จึงพัฒนาระบบ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AI</a:t>
              </a:r>
            </a:p>
            <a:p>
              <a:pPr algn="l"/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เพื่อตรวจสอบสภาพต้นไม้จากภาพและลดภาระของผู้ดูแล</a:t>
              </a:r>
              <a:endParaRPr sz="800" b="0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34" name="Group 533">
            <a:extLst>
              <a:ext uri="{FF2B5EF4-FFF2-40B4-BE49-F238E27FC236}">
                <a16:creationId xmlns:a16="http://schemas.microsoft.com/office/drawing/2014/main" id="{56A123C2-6491-429B-85CB-F662BB41975D}"/>
              </a:ext>
            </a:extLst>
          </p:cNvPr>
          <p:cNvGrpSpPr/>
          <p:nvPr/>
        </p:nvGrpSpPr>
        <p:grpSpPr>
          <a:xfrm>
            <a:off x="2688336" y="6355080"/>
            <a:ext cx="2212848" cy="868680"/>
            <a:chOff x="2688336" y="6355080"/>
            <a:chExt cx="2212848" cy="868680"/>
          </a:xfrm>
        </p:grpSpPr>
        <p:sp>
          <p:nvSpPr>
            <p:cNvPr id="380" name="Rounded Rectangle 379"/>
            <p:cNvSpPr/>
            <p:nvPr/>
          </p:nvSpPr>
          <p:spPr>
            <a:xfrm>
              <a:off x="2688336" y="6355080"/>
              <a:ext cx="2212848" cy="86868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1" name="TextBox 380"/>
            <p:cNvSpPr txBox="1"/>
            <p:nvPr/>
          </p:nvSpPr>
          <p:spPr>
            <a:xfrm>
              <a:off x="2816352" y="6414008"/>
              <a:ext cx="1956815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19" b="1" dirty="0" err="1">
                  <a:solidFill>
                    <a:srgbClr val="1EF28D"/>
                  </a:solidFill>
                  <a:latin typeface="Tahoma"/>
                </a:rPr>
                <a:t>วัตถุประสงค์</a:t>
              </a:r>
              <a:endParaRPr sz="819" b="1" dirty="0">
                <a:solidFill>
                  <a:srgbClr val="1EF28D"/>
                </a:solidFill>
                <a:latin typeface="Tahoma"/>
              </a:endParaRPr>
            </a:p>
          </p:txBody>
        </p:sp>
        <p:sp>
          <p:nvSpPr>
            <p:cNvPr id="382" name="TextBox 381"/>
            <p:cNvSpPr txBox="1"/>
            <p:nvPr/>
          </p:nvSpPr>
          <p:spPr>
            <a:xfrm>
              <a:off x="2816352" y="6594856"/>
              <a:ext cx="1956815" cy="615553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800" b="0" dirty="0">
                  <a:solidFill>
                    <a:srgbClr val="EFFFF8"/>
                  </a:solidFill>
                  <a:latin typeface="Tahoma"/>
                </a:rPr>
                <a:t>•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ลดภาระในการเฝ้าดูต้นไม้</a:t>
              </a:r>
              <a:endParaRPr sz="800" b="0" dirty="0">
                <a:solidFill>
                  <a:srgbClr val="EFFFF8"/>
                </a:solidFill>
                <a:latin typeface="Tahoma"/>
              </a:endParaRPr>
            </a:p>
            <a:p>
              <a:pPr algn="l"/>
              <a:r>
                <a:rPr sz="800" b="0" dirty="0">
                  <a:solidFill>
                    <a:srgbClr val="EFFFF8"/>
                  </a:solidFill>
                  <a:latin typeface="Tahoma"/>
                </a:rPr>
                <a:t>•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ตรวจจับสภาพต้นไม้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(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ปกติ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/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เหี่ยว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)</a:t>
              </a:r>
            </a:p>
            <a:p>
              <a:pPr algn="l"/>
              <a:r>
                <a:rPr sz="800" b="0" dirty="0">
                  <a:solidFill>
                    <a:srgbClr val="EFFFF8"/>
                  </a:solidFill>
                  <a:latin typeface="Tahoma"/>
                </a:rPr>
                <a:t>•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ทดลองใช้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Coral Dev Board Micro (Edge TPU)</a:t>
              </a:r>
            </a:p>
            <a:p>
              <a:pPr algn="l"/>
              <a:r>
                <a:rPr sz="800" b="0" dirty="0">
                  <a:solidFill>
                    <a:srgbClr val="EFFFF8"/>
                  </a:solidFill>
                  <a:latin typeface="Tahoma"/>
                </a:rPr>
                <a:t>•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แสดงผล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และบันทึกค่าผ่าน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Python GUI</a:t>
              </a:r>
            </a:p>
            <a:p>
              <a:pPr algn="l"/>
              <a:r>
                <a:rPr sz="800" b="0" dirty="0">
                  <a:solidFill>
                    <a:srgbClr val="EFFFF8"/>
                  </a:solidFill>
                  <a:latin typeface="Tahoma"/>
                </a:rPr>
                <a:t>•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ส่งผลผ่าน</a:t>
              </a:r>
              <a:r>
                <a:rPr sz="800" b="0" dirty="0">
                  <a:solidFill>
                    <a:srgbClr val="EFFFF8"/>
                  </a:solidFill>
                  <a:latin typeface="Tahoma"/>
                </a:rPr>
                <a:t> MQTT </a:t>
              </a:r>
              <a:r>
                <a:rPr sz="800" b="0" dirty="0" err="1">
                  <a:solidFill>
                    <a:srgbClr val="EFFFF8"/>
                  </a:solidFill>
                  <a:latin typeface="Tahoma"/>
                </a:rPr>
                <a:t>เพื่อต่อยอดระบบอัตโนมัติ</a:t>
              </a:r>
              <a:endParaRPr sz="800" b="0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E159D7CB-22A9-4678-BC87-7EE43976184C}"/>
              </a:ext>
            </a:extLst>
          </p:cNvPr>
          <p:cNvGrpSpPr/>
          <p:nvPr/>
        </p:nvGrpSpPr>
        <p:grpSpPr>
          <a:xfrm>
            <a:off x="5102352" y="6355080"/>
            <a:ext cx="2280285" cy="868680"/>
            <a:chOff x="5102352" y="6355080"/>
            <a:chExt cx="2280285" cy="868680"/>
          </a:xfrm>
        </p:grpSpPr>
        <p:sp>
          <p:nvSpPr>
            <p:cNvPr id="383" name="Rounded Rectangle 382"/>
            <p:cNvSpPr/>
            <p:nvPr/>
          </p:nvSpPr>
          <p:spPr>
            <a:xfrm>
              <a:off x="5102352" y="6355080"/>
              <a:ext cx="2212848" cy="86868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4" name="TextBox 383"/>
            <p:cNvSpPr txBox="1"/>
            <p:nvPr/>
          </p:nvSpPr>
          <p:spPr>
            <a:xfrm>
              <a:off x="5230368" y="6408928"/>
              <a:ext cx="1956815" cy="14630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19" b="1" dirty="0" err="1">
                  <a:solidFill>
                    <a:srgbClr val="1EF28D"/>
                  </a:solidFill>
                  <a:latin typeface="Tahoma"/>
                </a:rPr>
                <a:t>ผลการทดสอบ</a:t>
              </a:r>
              <a:endParaRPr sz="819" b="1" dirty="0">
                <a:solidFill>
                  <a:srgbClr val="1EF28D"/>
                </a:solidFill>
                <a:latin typeface="Tahoma"/>
              </a:endParaRPr>
            </a:p>
          </p:txBody>
        </p:sp>
        <p:sp>
          <p:nvSpPr>
            <p:cNvPr id="385" name="TextBox 384"/>
            <p:cNvSpPr txBox="1"/>
            <p:nvPr/>
          </p:nvSpPr>
          <p:spPr>
            <a:xfrm>
              <a:off x="5217795" y="6613039"/>
              <a:ext cx="2164842" cy="41549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ระบบแสดงภาพ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ตรวจจับสภาพต้นไม้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(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ปกติ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/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เหี่ยว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)</a:t>
              </a:r>
            </a:p>
            <a:p>
              <a:pPr algn="l"/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แบบ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Real-time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ได้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FPS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ประมาณ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10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และผลตรวจจับ</a:t>
              </a:r>
              <a:endParaRPr sz="900" b="0" dirty="0">
                <a:solidFill>
                  <a:srgbClr val="EFFFF8"/>
                </a:solidFill>
                <a:latin typeface="Tahoma"/>
              </a:endParaRPr>
            </a:p>
            <a:p>
              <a:pPr algn="l"/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มีความแม่นยำประมาณ</a:t>
              </a:r>
              <a:r>
                <a:rPr sz="900" b="0" dirty="0">
                  <a:solidFill>
                    <a:srgbClr val="EFFFF8"/>
                  </a:solidFill>
                  <a:latin typeface="Tahoma"/>
                </a:rPr>
                <a:t> 60% </a:t>
              </a:r>
              <a:r>
                <a:rPr sz="900" b="0" dirty="0" err="1">
                  <a:solidFill>
                    <a:srgbClr val="EFFFF8"/>
                  </a:solidFill>
                  <a:latin typeface="Tahoma"/>
                </a:rPr>
                <a:t>โดยรวม</a:t>
              </a:r>
              <a:endParaRPr sz="900" b="0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36" name="Group 535">
            <a:extLst>
              <a:ext uri="{FF2B5EF4-FFF2-40B4-BE49-F238E27FC236}">
                <a16:creationId xmlns:a16="http://schemas.microsoft.com/office/drawing/2014/main" id="{E0F88767-F8D4-4172-85D5-8D1D8DECDD5C}"/>
              </a:ext>
            </a:extLst>
          </p:cNvPr>
          <p:cNvGrpSpPr/>
          <p:nvPr/>
        </p:nvGrpSpPr>
        <p:grpSpPr>
          <a:xfrm>
            <a:off x="274320" y="7406640"/>
            <a:ext cx="7040880" cy="685800"/>
            <a:chOff x="274320" y="7406640"/>
            <a:chExt cx="7040880" cy="685800"/>
          </a:xfrm>
        </p:grpSpPr>
        <p:sp>
          <p:nvSpPr>
            <p:cNvPr id="386" name="Rounded Rectangle 385"/>
            <p:cNvSpPr/>
            <p:nvPr/>
          </p:nvSpPr>
          <p:spPr>
            <a:xfrm>
              <a:off x="274320" y="7406640"/>
              <a:ext cx="7040880" cy="685800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7" name="TextBox 386"/>
            <p:cNvSpPr txBox="1"/>
            <p:nvPr/>
          </p:nvSpPr>
          <p:spPr>
            <a:xfrm>
              <a:off x="438912" y="7479792"/>
              <a:ext cx="2377440" cy="12801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840" b="1">
                  <a:solidFill>
                    <a:srgbClr val="1EF28D"/>
                  </a:solidFill>
                  <a:latin typeface="Tahoma"/>
                </a:rPr>
                <a:t>ขั้นตอนการทำงานของระบบ</a:t>
              </a:r>
            </a:p>
          </p:txBody>
        </p: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03087256-A589-45E2-8518-40A6DCF40C00}"/>
              </a:ext>
            </a:extLst>
          </p:cNvPr>
          <p:cNvGrpSpPr/>
          <p:nvPr/>
        </p:nvGrpSpPr>
        <p:grpSpPr>
          <a:xfrm>
            <a:off x="690754" y="7626096"/>
            <a:ext cx="6181343" cy="368960"/>
            <a:chOff x="438912" y="7626096"/>
            <a:chExt cx="6181343" cy="368960"/>
          </a:xfrm>
        </p:grpSpPr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663A76C7-536E-4D2F-95B8-1C65E6C6EFE0}"/>
                </a:ext>
              </a:extLst>
            </p:cNvPr>
            <p:cNvGrpSpPr/>
            <p:nvPr/>
          </p:nvGrpSpPr>
          <p:grpSpPr>
            <a:xfrm>
              <a:off x="438912" y="7629669"/>
              <a:ext cx="804672" cy="362187"/>
              <a:chOff x="438912" y="7629669"/>
              <a:chExt cx="804672" cy="362187"/>
            </a:xfrm>
          </p:grpSpPr>
          <p:sp>
            <p:nvSpPr>
              <p:cNvPr id="388" name="Rounded Rectangle 387"/>
              <p:cNvSpPr/>
              <p:nvPr/>
            </p:nvSpPr>
            <p:spPr>
              <a:xfrm>
                <a:off x="438912" y="7629669"/>
                <a:ext cx="804672" cy="362187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9" name="TextBox 388"/>
              <p:cNvSpPr txBox="1"/>
              <p:nvPr/>
            </p:nvSpPr>
            <p:spPr>
              <a:xfrm>
                <a:off x="466344" y="7662672"/>
                <a:ext cx="749808" cy="9233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1. </a:t>
                </a:r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จับภาพ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</p:txBody>
          </p:sp>
          <p:grpSp>
            <p:nvGrpSpPr>
              <p:cNvPr id="540" name="Group 539">
                <a:extLst>
                  <a:ext uri="{FF2B5EF4-FFF2-40B4-BE49-F238E27FC236}">
                    <a16:creationId xmlns:a16="http://schemas.microsoft.com/office/drawing/2014/main" id="{52EB884F-779C-4BA3-8BAE-4C357AFDEFB2}"/>
                  </a:ext>
                </a:extLst>
              </p:cNvPr>
              <p:cNvGrpSpPr/>
              <p:nvPr/>
            </p:nvGrpSpPr>
            <p:grpSpPr>
              <a:xfrm>
                <a:off x="767181" y="7840431"/>
                <a:ext cx="148132" cy="118506"/>
                <a:chOff x="767181" y="7840431"/>
                <a:chExt cx="148132" cy="118506"/>
              </a:xfrm>
            </p:grpSpPr>
            <p:sp>
              <p:nvSpPr>
                <p:cNvPr id="390" name="Rounded Rectangle 389"/>
                <p:cNvSpPr/>
                <p:nvPr/>
              </p:nvSpPr>
              <p:spPr>
                <a:xfrm>
                  <a:off x="767181" y="7868412"/>
                  <a:ext cx="148132" cy="90525"/>
                </a:xfrm>
                <a:prstGeom prst="round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1" name="Oval 390"/>
                <p:cNvSpPr/>
                <p:nvPr/>
              </p:nvSpPr>
              <p:spPr>
                <a:xfrm>
                  <a:off x="818205" y="7896392"/>
                  <a:ext cx="46085" cy="46085"/>
                </a:xfrm>
                <a:prstGeom prst="ellipse">
                  <a:avLst/>
                </a:prstGeom>
                <a:noFill/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2" name="Rectangle 391"/>
                <p:cNvSpPr/>
                <p:nvPr/>
              </p:nvSpPr>
              <p:spPr>
                <a:xfrm>
                  <a:off x="788578" y="7840431"/>
                  <a:ext cx="36210" cy="21396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393" name="TextBox 392"/>
            <p:cNvSpPr txBox="1"/>
            <p:nvPr/>
          </p:nvSpPr>
          <p:spPr>
            <a:xfrm>
              <a:off x="1225295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 dirty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43BC1E2C-7FF2-407C-A48E-2B17C09B7D00}"/>
                </a:ext>
              </a:extLst>
            </p:cNvPr>
            <p:cNvGrpSpPr/>
            <p:nvPr/>
          </p:nvGrpSpPr>
          <p:grpSpPr>
            <a:xfrm>
              <a:off x="1335024" y="7629669"/>
              <a:ext cx="804672" cy="365387"/>
              <a:chOff x="1335024" y="7629669"/>
              <a:chExt cx="804672" cy="365387"/>
            </a:xfrm>
          </p:grpSpPr>
          <p:sp>
            <p:nvSpPr>
              <p:cNvPr id="394" name="Rounded Rectangle 393"/>
              <p:cNvSpPr/>
              <p:nvPr/>
            </p:nvSpPr>
            <p:spPr>
              <a:xfrm>
                <a:off x="1335024" y="7629669"/>
                <a:ext cx="804672" cy="362187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5" name="TextBox 394"/>
              <p:cNvSpPr txBox="1"/>
              <p:nvPr/>
            </p:nvSpPr>
            <p:spPr>
              <a:xfrm>
                <a:off x="1362456" y="7650480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2. </a:t>
                </a:r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ประมวลผล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ด้วย</a:t>
                </a:r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 Edge TPU</a:t>
                </a:r>
              </a:p>
            </p:txBody>
          </p:sp>
          <p:grpSp>
            <p:nvGrpSpPr>
              <p:cNvPr id="539" name="Group 538">
                <a:extLst>
                  <a:ext uri="{FF2B5EF4-FFF2-40B4-BE49-F238E27FC236}">
                    <a16:creationId xmlns:a16="http://schemas.microsoft.com/office/drawing/2014/main" id="{252B5D87-AC70-4A17-A708-AD3338872698}"/>
                  </a:ext>
                </a:extLst>
              </p:cNvPr>
              <p:cNvGrpSpPr/>
              <p:nvPr/>
            </p:nvGrpSpPr>
            <p:grpSpPr>
              <a:xfrm>
                <a:off x="1651863" y="7824063"/>
                <a:ext cx="170993" cy="170993"/>
                <a:chOff x="1651863" y="7824063"/>
                <a:chExt cx="170993" cy="170993"/>
              </a:xfrm>
            </p:grpSpPr>
            <p:sp>
              <p:nvSpPr>
                <p:cNvPr id="396" name="Rectangle 395"/>
                <p:cNvSpPr/>
                <p:nvPr/>
              </p:nvSpPr>
              <p:spPr>
                <a:xfrm>
                  <a:off x="1682953" y="7855153"/>
                  <a:ext cx="108813" cy="108813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97" name="Connector 396"/>
                <p:cNvCxnSpPr>
                  <a:cxnSpLocks/>
                </p:cNvCxnSpPr>
                <p:nvPr/>
              </p:nvCxnSpPr>
              <p:spPr>
                <a:xfrm>
                  <a:off x="1651863" y="7870698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Connector 397"/>
                <p:cNvCxnSpPr>
                  <a:cxnSpLocks/>
                </p:cNvCxnSpPr>
                <p:nvPr/>
              </p:nvCxnSpPr>
              <p:spPr>
                <a:xfrm>
                  <a:off x="1791766" y="7870698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Connector 398"/>
                <p:cNvCxnSpPr>
                  <a:cxnSpLocks/>
                </p:cNvCxnSpPr>
                <p:nvPr/>
              </p:nvCxnSpPr>
              <p:spPr>
                <a:xfrm>
                  <a:off x="1698498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Connector 399"/>
                <p:cNvCxnSpPr>
                  <a:cxnSpLocks/>
                </p:cNvCxnSpPr>
                <p:nvPr/>
              </p:nvCxnSpPr>
              <p:spPr>
                <a:xfrm>
                  <a:off x="1698498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Connector 400"/>
                <p:cNvCxnSpPr>
                  <a:cxnSpLocks/>
                </p:cNvCxnSpPr>
                <p:nvPr/>
              </p:nvCxnSpPr>
              <p:spPr>
                <a:xfrm>
                  <a:off x="1651863" y="7909560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Connector 401"/>
                <p:cNvCxnSpPr>
                  <a:cxnSpLocks/>
                </p:cNvCxnSpPr>
                <p:nvPr/>
              </p:nvCxnSpPr>
              <p:spPr>
                <a:xfrm>
                  <a:off x="1791766" y="7909560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Connector 402"/>
                <p:cNvCxnSpPr>
                  <a:cxnSpLocks/>
                </p:cNvCxnSpPr>
                <p:nvPr/>
              </p:nvCxnSpPr>
              <p:spPr>
                <a:xfrm>
                  <a:off x="1737360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Connector 403"/>
                <p:cNvCxnSpPr>
                  <a:cxnSpLocks/>
                </p:cNvCxnSpPr>
                <p:nvPr/>
              </p:nvCxnSpPr>
              <p:spPr>
                <a:xfrm>
                  <a:off x="1737360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Connector 404"/>
                <p:cNvCxnSpPr>
                  <a:cxnSpLocks/>
                </p:cNvCxnSpPr>
                <p:nvPr/>
              </p:nvCxnSpPr>
              <p:spPr>
                <a:xfrm>
                  <a:off x="1651863" y="7948422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Connector 405"/>
                <p:cNvCxnSpPr>
                  <a:cxnSpLocks/>
                </p:cNvCxnSpPr>
                <p:nvPr/>
              </p:nvCxnSpPr>
              <p:spPr>
                <a:xfrm>
                  <a:off x="1791766" y="7948422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Connector 406"/>
                <p:cNvCxnSpPr>
                  <a:cxnSpLocks/>
                </p:cNvCxnSpPr>
                <p:nvPr/>
              </p:nvCxnSpPr>
              <p:spPr>
                <a:xfrm>
                  <a:off x="1776222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Connector 407"/>
                <p:cNvCxnSpPr>
                  <a:cxnSpLocks/>
                </p:cNvCxnSpPr>
                <p:nvPr/>
              </p:nvCxnSpPr>
              <p:spPr>
                <a:xfrm>
                  <a:off x="1776222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09" name="TextBox 408"/>
            <p:cNvSpPr txBox="1"/>
            <p:nvPr/>
          </p:nvSpPr>
          <p:spPr>
            <a:xfrm>
              <a:off x="2121408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275BD1F3-B0AD-4150-B6A0-F2F1AB883B10}"/>
                </a:ext>
              </a:extLst>
            </p:cNvPr>
            <p:cNvGrpSpPr/>
            <p:nvPr/>
          </p:nvGrpSpPr>
          <p:grpSpPr>
            <a:xfrm>
              <a:off x="2231136" y="7629668"/>
              <a:ext cx="804672" cy="365388"/>
              <a:chOff x="2231136" y="7629668"/>
              <a:chExt cx="804672" cy="365388"/>
            </a:xfrm>
          </p:grpSpPr>
          <p:sp>
            <p:nvSpPr>
              <p:cNvPr id="410" name="Rounded Rectangle 409"/>
              <p:cNvSpPr/>
              <p:nvPr/>
            </p:nvSpPr>
            <p:spPr>
              <a:xfrm>
                <a:off x="2231136" y="7629668"/>
                <a:ext cx="804672" cy="365388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1" name="TextBox 410"/>
              <p:cNvSpPr txBox="1"/>
              <p:nvPr/>
            </p:nvSpPr>
            <p:spPr>
              <a:xfrm>
                <a:off x="2258568" y="7662672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>
                    <a:solidFill>
                      <a:srgbClr val="EFFFF8"/>
                    </a:solidFill>
                    <a:latin typeface="Tahoma"/>
                  </a:rPr>
                  <a:t>3. ตรวจจับ</a:t>
                </a:r>
              </a:p>
              <a:p>
                <a:pPr algn="ctr"/>
                <a:r>
                  <a:rPr sz="600" b="1">
                    <a:solidFill>
                      <a:srgbClr val="EFFFF8"/>
                    </a:solidFill>
                    <a:latin typeface="Tahoma"/>
                  </a:rPr>
                  <a:t>ปกติ / เหี่ยว</a:t>
                </a:r>
              </a:p>
            </p:txBody>
          </p:sp>
          <p:grpSp>
            <p:nvGrpSpPr>
              <p:cNvPr id="543" name="Group 542">
                <a:extLst>
                  <a:ext uri="{FF2B5EF4-FFF2-40B4-BE49-F238E27FC236}">
                    <a16:creationId xmlns:a16="http://schemas.microsoft.com/office/drawing/2014/main" id="{EFFC6D28-4437-4DEC-A1F3-5013EFAF0A08}"/>
                  </a:ext>
                </a:extLst>
              </p:cNvPr>
              <p:cNvGrpSpPr/>
              <p:nvPr/>
            </p:nvGrpSpPr>
            <p:grpSpPr>
              <a:xfrm>
                <a:off x="2547975" y="7839608"/>
                <a:ext cx="170992" cy="147675"/>
                <a:chOff x="2547975" y="7839608"/>
                <a:chExt cx="170992" cy="147675"/>
              </a:xfrm>
            </p:grpSpPr>
            <p:sp>
              <p:nvSpPr>
                <p:cNvPr id="412" name="Rectangle 411"/>
                <p:cNvSpPr/>
                <p:nvPr/>
              </p:nvSpPr>
              <p:spPr>
                <a:xfrm>
                  <a:off x="2594610" y="7932877"/>
                  <a:ext cx="77724" cy="54406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13" name="Connector 412"/>
                <p:cNvCxnSpPr>
                  <a:cxnSpLocks/>
                </p:cNvCxnSpPr>
                <p:nvPr/>
              </p:nvCxnSpPr>
              <p:spPr>
                <a:xfrm flipV="1">
                  <a:off x="2633472" y="7855153"/>
                  <a:ext cx="0" cy="77724"/>
                </a:xfrm>
                <a:prstGeom prst="line">
                  <a:avLst/>
                </a:prstGeom>
                <a:ln w="1524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4" name="Oval 413"/>
                <p:cNvSpPr/>
                <p:nvPr/>
              </p:nvSpPr>
              <p:spPr>
                <a:xfrm>
                  <a:off x="2547975" y="7839608"/>
                  <a:ext cx="69951" cy="69951"/>
                </a:xfrm>
                <a:prstGeom prst="ellipse">
                  <a:avLst/>
                </a:prstGeom>
                <a:noFill/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15" name="Oval 414"/>
                <p:cNvSpPr/>
                <p:nvPr/>
              </p:nvSpPr>
              <p:spPr>
                <a:xfrm>
                  <a:off x="2649016" y="7839608"/>
                  <a:ext cx="69951" cy="69951"/>
                </a:xfrm>
                <a:prstGeom prst="ellipse">
                  <a:avLst/>
                </a:prstGeom>
                <a:noFill/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416" name="TextBox 415"/>
            <p:cNvSpPr txBox="1"/>
            <p:nvPr/>
          </p:nvSpPr>
          <p:spPr>
            <a:xfrm>
              <a:off x="3017520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47" name="Group 546">
              <a:extLst>
                <a:ext uri="{FF2B5EF4-FFF2-40B4-BE49-F238E27FC236}">
                  <a16:creationId xmlns:a16="http://schemas.microsoft.com/office/drawing/2014/main" id="{A568A832-513A-4B1C-8591-F39D1263A00F}"/>
                </a:ext>
              </a:extLst>
            </p:cNvPr>
            <p:cNvGrpSpPr/>
            <p:nvPr/>
          </p:nvGrpSpPr>
          <p:grpSpPr>
            <a:xfrm>
              <a:off x="3127248" y="7629669"/>
              <a:ext cx="804672" cy="362187"/>
              <a:chOff x="3127248" y="7629669"/>
              <a:chExt cx="804672" cy="362187"/>
            </a:xfrm>
          </p:grpSpPr>
          <p:sp>
            <p:nvSpPr>
              <p:cNvPr id="417" name="Rounded Rectangle 416"/>
              <p:cNvSpPr/>
              <p:nvPr/>
            </p:nvSpPr>
            <p:spPr>
              <a:xfrm>
                <a:off x="3127248" y="7629669"/>
                <a:ext cx="804672" cy="362187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8" name="TextBox 417"/>
              <p:cNvSpPr txBox="1"/>
              <p:nvPr/>
            </p:nvSpPr>
            <p:spPr>
              <a:xfrm>
                <a:off x="3154679" y="7662672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>
                    <a:solidFill>
                      <a:srgbClr val="EFFFF8"/>
                    </a:solidFill>
                    <a:latin typeface="Tahoma"/>
                  </a:rPr>
                  <a:t>4. แสดงผลใน</a:t>
                </a:r>
              </a:p>
              <a:p>
                <a:pPr algn="ctr"/>
                <a:r>
                  <a:rPr sz="600" b="1">
                    <a:solidFill>
                      <a:srgbClr val="EFFFF8"/>
                    </a:solidFill>
                    <a:latin typeface="Tahoma"/>
                  </a:rPr>
                  <a:t>Python GUI</a:t>
                </a:r>
              </a:p>
            </p:txBody>
          </p:sp>
          <p:grpSp>
            <p:nvGrpSpPr>
              <p:cNvPr id="546" name="Group 545">
                <a:extLst>
                  <a:ext uri="{FF2B5EF4-FFF2-40B4-BE49-F238E27FC236}">
                    <a16:creationId xmlns:a16="http://schemas.microsoft.com/office/drawing/2014/main" id="{48386CB6-59A5-439C-9B2D-5743D1C66319}"/>
                  </a:ext>
                </a:extLst>
              </p:cNvPr>
              <p:cNvGrpSpPr/>
              <p:nvPr/>
            </p:nvGrpSpPr>
            <p:grpSpPr>
              <a:xfrm>
                <a:off x="3434120" y="7856890"/>
                <a:ext cx="190927" cy="113569"/>
                <a:chOff x="3434120" y="7856890"/>
                <a:chExt cx="190927" cy="113569"/>
              </a:xfrm>
            </p:grpSpPr>
            <p:sp>
              <p:nvSpPr>
                <p:cNvPr id="419" name="Rectangle 418"/>
                <p:cNvSpPr/>
                <p:nvPr/>
              </p:nvSpPr>
              <p:spPr>
                <a:xfrm>
                  <a:off x="3447288" y="7856890"/>
                  <a:ext cx="164592" cy="95463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1EF28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20" name="Connector 419"/>
                <p:cNvCxnSpPr>
                  <a:cxnSpLocks/>
                </p:cNvCxnSpPr>
                <p:nvPr/>
              </p:nvCxnSpPr>
              <p:spPr>
                <a:xfrm>
                  <a:off x="3434120" y="7970459"/>
                  <a:ext cx="190927" cy="0"/>
                </a:xfrm>
                <a:prstGeom prst="line">
                  <a:avLst/>
                </a:prstGeom>
                <a:ln w="1524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Connector 420"/>
                <p:cNvCxnSpPr>
                  <a:cxnSpLocks/>
                </p:cNvCxnSpPr>
                <p:nvPr/>
              </p:nvCxnSpPr>
              <p:spPr>
                <a:xfrm flipV="1">
                  <a:off x="3488436" y="7896392"/>
                  <a:ext cx="32918" cy="29627"/>
                </a:xfrm>
                <a:prstGeom prst="line">
                  <a:avLst/>
                </a:prstGeom>
                <a:ln w="1270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Connector 421"/>
                <p:cNvCxnSpPr>
                  <a:cxnSpLocks/>
                </p:cNvCxnSpPr>
                <p:nvPr/>
              </p:nvCxnSpPr>
              <p:spPr>
                <a:xfrm>
                  <a:off x="3521354" y="7896392"/>
                  <a:ext cx="32918" cy="18105"/>
                </a:xfrm>
                <a:prstGeom prst="line">
                  <a:avLst/>
                </a:prstGeom>
                <a:ln w="1270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Connector 422"/>
                <p:cNvCxnSpPr>
                  <a:cxnSpLocks/>
                </p:cNvCxnSpPr>
                <p:nvPr/>
              </p:nvCxnSpPr>
              <p:spPr>
                <a:xfrm flipV="1">
                  <a:off x="3554272" y="7884871"/>
                  <a:ext cx="24689" cy="29626"/>
                </a:xfrm>
                <a:prstGeom prst="line">
                  <a:avLst/>
                </a:prstGeom>
                <a:ln w="1270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24" name="TextBox 423"/>
            <p:cNvSpPr txBox="1"/>
            <p:nvPr/>
          </p:nvSpPr>
          <p:spPr>
            <a:xfrm>
              <a:off x="3913632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C362FFC6-BF5B-4CE5-9434-513F38381FFC}"/>
                </a:ext>
              </a:extLst>
            </p:cNvPr>
            <p:cNvGrpSpPr/>
            <p:nvPr/>
          </p:nvGrpSpPr>
          <p:grpSpPr>
            <a:xfrm>
              <a:off x="4023360" y="7629669"/>
              <a:ext cx="804672" cy="362187"/>
              <a:chOff x="4023360" y="7629669"/>
              <a:chExt cx="804672" cy="362187"/>
            </a:xfrm>
          </p:grpSpPr>
          <p:sp>
            <p:nvSpPr>
              <p:cNvPr id="425" name="Rounded Rectangle 424"/>
              <p:cNvSpPr/>
              <p:nvPr/>
            </p:nvSpPr>
            <p:spPr>
              <a:xfrm>
                <a:off x="4023360" y="7629669"/>
                <a:ext cx="804672" cy="362187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6" name="TextBox 425"/>
              <p:cNvSpPr txBox="1"/>
              <p:nvPr/>
            </p:nvSpPr>
            <p:spPr>
              <a:xfrm>
                <a:off x="4050792" y="7662672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5. </a:t>
                </a:r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ส่งข้อมูลผ่าน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MQTT</a:t>
                </a:r>
              </a:p>
            </p:txBody>
          </p:sp>
          <p:grpSp>
            <p:nvGrpSpPr>
              <p:cNvPr id="548" name="Group 547">
                <a:extLst>
                  <a:ext uri="{FF2B5EF4-FFF2-40B4-BE49-F238E27FC236}">
                    <a16:creationId xmlns:a16="http://schemas.microsoft.com/office/drawing/2014/main" id="{75CB99C5-501D-4074-850A-C25CE5D6A01F}"/>
                  </a:ext>
                </a:extLst>
              </p:cNvPr>
              <p:cNvGrpSpPr/>
              <p:nvPr/>
            </p:nvGrpSpPr>
            <p:grpSpPr>
              <a:xfrm>
                <a:off x="4334256" y="7863840"/>
                <a:ext cx="182880" cy="91440"/>
                <a:chOff x="4334256" y="7863840"/>
                <a:chExt cx="182880" cy="91440"/>
              </a:xfrm>
            </p:grpSpPr>
            <p:sp>
              <p:nvSpPr>
                <p:cNvPr id="427" name="Rounded Rectangle 426"/>
                <p:cNvSpPr/>
                <p:nvPr/>
              </p:nvSpPr>
              <p:spPr>
                <a:xfrm>
                  <a:off x="4334256" y="7863840"/>
                  <a:ext cx="182880" cy="91440"/>
                </a:xfrm>
                <a:prstGeom prst="roundRect">
                  <a:avLst/>
                </a:prstGeom>
                <a:solidFill>
                  <a:srgbClr val="061F16"/>
                </a:solidFill>
                <a:ln w="12700">
                  <a:solidFill>
                    <a:srgbClr val="49A0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28" name="TextBox 427"/>
                <p:cNvSpPr txBox="1"/>
                <p:nvPr/>
              </p:nvSpPr>
              <p:spPr>
                <a:xfrm>
                  <a:off x="4359859" y="7894929"/>
                  <a:ext cx="131673" cy="292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300" b="1">
                      <a:solidFill>
                        <a:srgbClr val="49A0FF"/>
                      </a:solidFill>
                      <a:latin typeface="Arial"/>
                    </a:rPr>
                    <a:t>MQTT</a:t>
                  </a:r>
                </a:p>
              </p:txBody>
            </p:sp>
          </p:grpSp>
        </p:grpSp>
        <p:sp>
          <p:nvSpPr>
            <p:cNvPr id="429" name="TextBox 428"/>
            <p:cNvSpPr txBox="1"/>
            <p:nvPr/>
          </p:nvSpPr>
          <p:spPr>
            <a:xfrm>
              <a:off x="4809744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ED3A21B0-6C58-4DB2-B25E-478053062DB0}"/>
                </a:ext>
              </a:extLst>
            </p:cNvPr>
            <p:cNvGrpSpPr/>
            <p:nvPr/>
          </p:nvGrpSpPr>
          <p:grpSpPr>
            <a:xfrm>
              <a:off x="4919472" y="7629669"/>
              <a:ext cx="804672" cy="365387"/>
              <a:chOff x="4919472" y="7629669"/>
              <a:chExt cx="804672" cy="365387"/>
            </a:xfrm>
          </p:grpSpPr>
          <p:sp>
            <p:nvSpPr>
              <p:cNvPr id="430" name="Rounded Rectangle 429"/>
              <p:cNvSpPr/>
              <p:nvPr/>
            </p:nvSpPr>
            <p:spPr>
              <a:xfrm>
                <a:off x="4919472" y="7629669"/>
                <a:ext cx="804672" cy="362187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1" name="TextBox 430"/>
              <p:cNvSpPr txBox="1"/>
              <p:nvPr/>
            </p:nvSpPr>
            <p:spPr>
              <a:xfrm>
                <a:off x="4946904" y="7662672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6. ESP32</a:t>
                </a:r>
              </a:p>
              <a:p>
                <a:pPr algn="ctr"/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รับคำสั่ง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</p:txBody>
          </p:sp>
          <p:grpSp>
            <p:nvGrpSpPr>
              <p:cNvPr id="550" name="Group 549">
                <a:extLst>
                  <a:ext uri="{FF2B5EF4-FFF2-40B4-BE49-F238E27FC236}">
                    <a16:creationId xmlns:a16="http://schemas.microsoft.com/office/drawing/2014/main" id="{9EC09013-DAA0-4970-9210-E694B9CD4F7F}"/>
                  </a:ext>
                </a:extLst>
              </p:cNvPr>
              <p:cNvGrpSpPr/>
              <p:nvPr/>
            </p:nvGrpSpPr>
            <p:grpSpPr>
              <a:xfrm>
                <a:off x="5236311" y="7824063"/>
                <a:ext cx="170993" cy="170993"/>
                <a:chOff x="5236311" y="7824063"/>
                <a:chExt cx="170993" cy="170993"/>
              </a:xfrm>
            </p:grpSpPr>
            <p:sp>
              <p:nvSpPr>
                <p:cNvPr id="432" name="Rectangle 431"/>
                <p:cNvSpPr/>
                <p:nvPr/>
              </p:nvSpPr>
              <p:spPr>
                <a:xfrm>
                  <a:off x="5267401" y="7855153"/>
                  <a:ext cx="108813" cy="108813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33" name="Connector 432"/>
                <p:cNvCxnSpPr>
                  <a:cxnSpLocks/>
                </p:cNvCxnSpPr>
                <p:nvPr/>
              </p:nvCxnSpPr>
              <p:spPr>
                <a:xfrm>
                  <a:off x="5236311" y="7870698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Connector 433"/>
                <p:cNvCxnSpPr>
                  <a:cxnSpLocks/>
                </p:cNvCxnSpPr>
                <p:nvPr/>
              </p:nvCxnSpPr>
              <p:spPr>
                <a:xfrm>
                  <a:off x="5376214" y="7870698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Connector 434"/>
                <p:cNvCxnSpPr>
                  <a:cxnSpLocks/>
                </p:cNvCxnSpPr>
                <p:nvPr/>
              </p:nvCxnSpPr>
              <p:spPr>
                <a:xfrm>
                  <a:off x="5282946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Connector 435"/>
                <p:cNvCxnSpPr>
                  <a:cxnSpLocks/>
                </p:cNvCxnSpPr>
                <p:nvPr/>
              </p:nvCxnSpPr>
              <p:spPr>
                <a:xfrm>
                  <a:off x="5282946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Connector 436"/>
                <p:cNvCxnSpPr>
                  <a:cxnSpLocks/>
                </p:cNvCxnSpPr>
                <p:nvPr/>
              </p:nvCxnSpPr>
              <p:spPr>
                <a:xfrm>
                  <a:off x="5236311" y="7909560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Connector 437"/>
                <p:cNvCxnSpPr>
                  <a:cxnSpLocks/>
                </p:cNvCxnSpPr>
                <p:nvPr/>
              </p:nvCxnSpPr>
              <p:spPr>
                <a:xfrm>
                  <a:off x="5376214" y="7909560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Connector 438"/>
                <p:cNvCxnSpPr>
                  <a:cxnSpLocks/>
                </p:cNvCxnSpPr>
                <p:nvPr/>
              </p:nvCxnSpPr>
              <p:spPr>
                <a:xfrm>
                  <a:off x="5321808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Connector 439"/>
                <p:cNvCxnSpPr>
                  <a:cxnSpLocks/>
                </p:cNvCxnSpPr>
                <p:nvPr/>
              </p:nvCxnSpPr>
              <p:spPr>
                <a:xfrm>
                  <a:off x="5321808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Connector 440"/>
                <p:cNvCxnSpPr>
                  <a:cxnSpLocks/>
                </p:cNvCxnSpPr>
                <p:nvPr/>
              </p:nvCxnSpPr>
              <p:spPr>
                <a:xfrm>
                  <a:off x="5236311" y="7948422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Connector 441"/>
                <p:cNvCxnSpPr>
                  <a:cxnSpLocks/>
                </p:cNvCxnSpPr>
                <p:nvPr/>
              </p:nvCxnSpPr>
              <p:spPr>
                <a:xfrm>
                  <a:off x="5376214" y="7948422"/>
                  <a:ext cx="31090" cy="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Connector 442"/>
                <p:cNvCxnSpPr>
                  <a:cxnSpLocks/>
                </p:cNvCxnSpPr>
                <p:nvPr/>
              </p:nvCxnSpPr>
              <p:spPr>
                <a:xfrm>
                  <a:off x="5360670" y="7824063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Connector 443"/>
                <p:cNvCxnSpPr>
                  <a:cxnSpLocks/>
                </p:cNvCxnSpPr>
                <p:nvPr/>
              </p:nvCxnSpPr>
              <p:spPr>
                <a:xfrm>
                  <a:off x="5360670" y="7963966"/>
                  <a:ext cx="0" cy="31090"/>
                </a:xfrm>
                <a:prstGeom prst="line">
                  <a:avLst/>
                </a:prstGeom>
                <a:ln w="1016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45" name="TextBox 444"/>
            <p:cNvSpPr txBox="1"/>
            <p:nvPr/>
          </p:nvSpPr>
          <p:spPr>
            <a:xfrm>
              <a:off x="5705856" y="7836408"/>
              <a:ext cx="109728" cy="914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0">
                  <a:solidFill>
                    <a:srgbClr val="1EF28D"/>
                  </a:solidFill>
                  <a:latin typeface="Tahoma"/>
                </a:rPr>
                <a:t>→</a:t>
              </a:r>
            </a:p>
          </p:txBody>
        </p:sp>
        <p:grpSp>
          <p:nvGrpSpPr>
            <p:cNvPr id="553" name="Group 552">
              <a:extLst>
                <a:ext uri="{FF2B5EF4-FFF2-40B4-BE49-F238E27FC236}">
                  <a16:creationId xmlns:a16="http://schemas.microsoft.com/office/drawing/2014/main" id="{88CD2CC7-C36C-46CD-AFD4-D3951624A1E2}"/>
                </a:ext>
              </a:extLst>
            </p:cNvPr>
            <p:cNvGrpSpPr/>
            <p:nvPr/>
          </p:nvGrpSpPr>
          <p:grpSpPr>
            <a:xfrm>
              <a:off x="5815583" y="7626096"/>
              <a:ext cx="804672" cy="365760"/>
              <a:chOff x="5815583" y="7626096"/>
              <a:chExt cx="804672" cy="365760"/>
            </a:xfrm>
          </p:grpSpPr>
          <p:sp>
            <p:nvSpPr>
              <p:cNvPr id="446" name="Rounded Rectangle 445"/>
              <p:cNvSpPr/>
              <p:nvPr/>
            </p:nvSpPr>
            <p:spPr>
              <a:xfrm>
                <a:off x="5815583" y="7626096"/>
                <a:ext cx="804672" cy="365760"/>
              </a:xfrm>
              <a:prstGeom prst="roundRect">
                <a:avLst/>
              </a:prstGeom>
              <a:solidFill>
                <a:srgbClr val="061F16"/>
              </a:solidFill>
              <a:ln w="1016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7" name="TextBox 446"/>
              <p:cNvSpPr txBox="1"/>
              <p:nvPr/>
            </p:nvSpPr>
            <p:spPr>
              <a:xfrm>
                <a:off x="5843016" y="7662672"/>
                <a:ext cx="749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ctr"/>
                <a:r>
                  <a:rPr sz="600" b="1" dirty="0">
                    <a:solidFill>
                      <a:srgbClr val="EFFFF8"/>
                    </a:solidFill>
                    <a:latin typeface="Tahoma"/>
                  </a:rPr>
                  <a:t>7. </a:t>
                </a:r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ควบคุมอุปกรณ์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  <a:p>
                <a:pPr algn="ctr"/>
                <a:r>
                  <a:rPr sz="600" b="1" dirty="0" err="1">
                    <a:solidFill>
                      <a:srgbClr val="EFFFF8"/>
                    </a:solidFill>
                    <a:latin typeface="Tahoma"/>
                  </a:rPr>
                  <a:t>และแจ้งเตือน</a:t>
                </a:r>
                <a:endParaRPr sz="600" b="1" dirty="0">
                  <a:solidFill>
                    <a:srgbClr val="EFFFF8"/>
                  </a:solidFill>
                  <a:latin typeface="Tahoma"/>
                </a:endParaRPr>
              </a:p>
            </p:txBody>
          </p:sp>
          <p:grpSp>
            <p:nvGrpSpPr>
              <p:cNvPr id="552" name="Group 551">
                <a:extLst>
                  <a:ext uri="{FF2B5EF4-FFF2-40B4-BE49-F238E27FC236}">
                    <a16:creationId xmlns:a16="http://schemas.microsoft.com/office/drawing/2014/main" id="{9FA10123-C449-4FE7-AE52-65FA8A578B08}"/>
                  </a:ext>
                </a:extLst>
              </p:cNvPr>
              <p:cNvGrpSpPr/>
              <p:nvPr/>
            </p:nvGrpSpPr>
            <p:grpSpPr>
              <a:xfrm>
                <a:off x="6070518" y="7863840"/>
                <a:ext cx="385146" cy="93085"/>
                <a:chOff x="6070518" y="7863840"/>
                <a:chExt cx="385146" cy="93085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6080759" y="7868594"/>
                  <a:ext cx="128016" cy="74249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EFFFF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49" name="Connector 448"/>
                <p:cNvCxnSpPr>
                  <a:cxnSpLocks/>
                </p:cNvCxnSpPr>
                <p:nvPr/>
              </p:nvCxnSpPr>
              <p:spPr>
                <a:xfrm>
                  <a:off x="6070518" y="7956925"/>
                  <a:ext cx="148499" cy="0"/>
                </a:xfrm>
                <a:prstGeom prst="line">
                  <a:avLst/>
                </a:prstGeom>
                <a:ln w="1524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Connector 449"/>
                <p:cNvCxnSpPr>
                  <a:cxnSpLocks/>
                </p:cNvCxnSpPr>
                <p:nvPr/>
              </p:nvCxnSpPr>
              <p:spPr>
                <a:xfrm flipV="1">
                  <a:off x="6112764" y="7899318"/>
                  <a:ext cx="25603" cy="23043"/>
                </a:xfrm>
                <a:prstGeom prst="line">
                  <a:avLst/>
                </a:prstGeom>
                <a:ln w="1270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Connector 450"/>
                <p:cNvCxnSpPr>
                  <a:cxnSpLocks/>
                </p:cNvCxnSpPr>
                <p:nvPr/>
              </p:nvCxnSpPr>
              <p:spPr>
                <a:xfrm>
                  <a:off x="6138367" y="7899318"/>
                  <a:ext cx="25603" cy="14082"/>
                </a:xfrm>
                <a:prstGeom prst="line">
                  <a:avLst/>
                </a:prstGeom>
                <a:ln w="1270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Connector 451"/>
                <p:cNvCxnSpPr>
                  <a:cxnSpLocks/>
                </p:cNvCxnSpPr>
                <p:nvPr/>
              </p:nvCxnSpPr>
              <p:spPr>
                <a:xfrm flipV="1">
                  <a:off x="6163970" y="7890357"/>
                  <a:ext cx="19202" cy="23043"/>
                </a:xfrm>
                <a:prstGeom prst="line">
                  <a:avLst/>
                </a:prstGeom>
                <a:ln w="1270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3" name="Oval 452"/>
                <p:cNvSpPr/>
                <p:nvPr/>
              </p:nvSpPr>
              <p:spPr>
                <a:xfrm>
                  <a:off x="6382512" y="7863840"/>
                  <a:ext cx="73152" cy="73152"/>
                </a:xfrm>
                <a:prstGeom prst="ellipse">
                  <a:avLst/>
                </a:prstGeom>
                <a:noFill/>
                <a:ln w="12700">
                  <a:solidFill>
                    <a:srgbClr val="FF585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</p:grpSp>
      <p:grpSp>
        <p:nvGrpSpPr>
          <p:cNvPr id="562" name="Group 561">
            <a:extLst>
              <a:ext uri="{FF2B5EF4-FFF2-40B4-BE49-F238E27FC236}">
                <a16:creationId xmlns:a16="http://schemas.microsoft.com/office/drawing/2014/main" id="{029AFE05-E851-43FD-B031-40A47F73A322}"/>
              </a:ext>
            </a:extLst>
          </p:cNvPr>
          <p:cNvGrpSpPr/>
          <p:nvPr/>
        </p:nvGrpSpPr>
        <p:grpSpPr>
          <a:xfrm>
            <a:off x="281813" y="8302752"/>
            <a:ext cx="6999225" cy="713232"/>
            <a:chOff x="395985" y="8302752"/>
            <a:chExt cx="6999225" cy="713232"/>
          </a:xfrm>
        </p:grpSpPr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0A9B2BE5-2B17-4419-A3E3-D9960A56EB19}"/>
                </a:ext>
              </a:extLst>
            </p:cNvPr>
            <p:cNvGrpSpPr/>
            <p:nvPr/>
          </p:nvGrpSpPr>
          <p:grpSpPr>
            <a:xfrm>
              <a:off x="395985" y="8302752"/>
              <a:ext cx="2331720" cy="713232"/>
              <a:chOff x="274320" y="8302752"/>
              <a:chExt cx="2331720" cy="713232"/>
            </a:xfrm>
          </p:grpSpPr>
          <p:sp>
            <p:nvSpPr>
              <p:cNvPr id="454" name="Rounded Rectangle 453"/>
              <p:cNvSpPr/>
              <p:nvPr/>
            </p:nvSpPr>
            <p:spPr>
              <a:xfrm>
                <a:off x="274320" y="8302752"/>
                <a:ext cx="2331720" cy="713232"/>
              </a:xfrm>
              <a:prstGeom prst="roundRect">
                <a:avLst/>
              </a:prstGeom>
              <a:solidFill>
                <a:srgbClr val="061F16"/>
              </a:solidFill>
              <a:ln w="1524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5" name="TextBox 454"/>
              <p:cNvSpPr txBox="1"/>
              <p:nvPr/>
            </p:nvSpPr>
            <p:spPr>
              <a:xfrm>
                <a:off x="420625" y="8319478"/>
                <a:ext cx="2075687" cy="16158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050" b="1" dirty="0" err="1">
                    <a:solidFill>
                      <a:srgbClr val="1EF28D"/>
                    </a:solidFill>
                    <a:latin typeface="Tahoma"/>
                  </a:rPr>
                  <a:t>การพัฒนาในอนาคต</a:t>
                </a:r>
                <a:endParaRPr sz="1050" b="1" dirty="0">
                  <a:solidFill>
                    <a:srgbClr val="1EF28D"/>
                  </a:solidFill>
                  <a:latin typeface="Tahoma"/>
                </a:endParaRPr>
              </a:p>
            </p:txBody>
          </p:sp>
          <p:sp>
            <p:nvSpPr>
              <p:cNvPr id="456" name="TextBox 455"/>
              <p:cNvSpPr txBox="1"/>
              <p:nvPr/>
            </p:nvSpPr>
            <p:spPr>
              <a:xfrm>
                <a:off x="402336" y="8458200"/>
                <a:ext cx="2075687" cy="415498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เตรียมเพิ่มคลาสโรคและแมลงของพืช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และขยายชุดข้อมูล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l"/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เพิ่มระบบแจ้งเตือนผ่าน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Web Dashboard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และ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Web</a:t>
                </a:r>
              </a:p>
              <a:p>
                <a:pPr algn="l"/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สำหรับแสดงข้อมูล</a:t>
                </a:r>
                <a:r>
                  <a:rPr sz="900" b="0" dirty="0">
                    <a:solidFill>
                      <a:srgbClr val="EFFFF8"/>
                    </a:solidFill>
                    <a:latin typeface="Tahoma"/>
                  </a:rPr>
                  <a:t> </a:t>
                </a:r>
                <a:r>
                  <a:rPr sz="900" b="0" dirty="0" err="1">
                    <a:solidFill>
                      <a:srgbClr val="EFFFF8"/>
                    </a:solidFill>
                    <a:latin typeface="Tahoma"/>
                  </a:rPr>
                  <a:t>และประยุกต์ใช้กับโรงเรือนอัจฉริยะ</a:t>
                </a:r>
                <a:endParaRPr sz="900" b="0" dirty="0">
                  <a:solidFill>
                    <a:srgbClr val="EFFFF8"/>
                  </a:solidFill>
                  <a:latin typeface="Tahoma"/>
                </a:endParaRPr>
              </a:p>
            </p:txBody>
          </p:sp>
        </p:grp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83B65996-F7C2-40FA-BA47-C6FF2D536708}"/>
                </a:ext>
              </a:extLst>
            </p:cNvPr>
            <p:cNvGrpSpPr/>
            <p:nvPr/>
          </p:nvGrpSpPr>
          <p:grpSpPr>
            <a:xfrm>
              <a:off x="2807208" y="8302752"/>
              <a:ext cx="2331720" cy="713232"/>
              <a:chOff x="2807208" y="8302752"/>
              <a:chExt cx="2331720" cy="713232"/>
            </a:xfrm>
          </p:grpSpPr>
          <p:sp>
            <p:nvSpPr>
              <p:cNvPr id="457" name="Rounded Rectangle 456"/>
              <p:cNvSpPr/>
              <p:nvPr/>
            </p:nvSpPr>
            <p:spPr>
              <a:xfrm>
                <a:off x="2807208" y="8302752"/>
                <a:ext cx="2331720" cy="713232"/>
              </a:xfrm>
              <a:prstGeom prst="roundRect">
                <a:avLst/>
              </a:prstGeom>
              <a:solidFill>
                <a:srgbClr val="061F16"/>
              </a:solidFill>
              <a:ln w="1524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8" name="TextBox 457"/>
              <p:cNvSpPr txBox="1"/>
              <p:nvPr/>
            </p:nvSpPr>
            <p:spPr>
              <a:xfrm>
                <a:off x="2891982" y="8330184"/>
                <a:ext cx="20756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000" b="1" dirty="0" err="1">
                    <a:solidFill>
                      <a:srgbClr val="1EF28D"/>
                    </a:solidFill>
                    <a:latin typeface="Tahoma"/>
                  </a:rPr>
                  <a:t>ปัญหาและแนวทางพัฒนา</a:t>
                </a:r>
                <a:endParaRPr sz="1000" b="1" dirty="0">
                  <a:solidFill>
                    <a:srgbClr val="1EF28D"/>
                  </a:solidFill>
                  <a:latin typeface="Tahoma"/>
                </a:endParaRPr>
              </a:p>
            </p:txBody>
          </p:sp>
          <p:sp>
            <p:nvSpPr>
              <p:cNvPr id="459" name="TextBox 458"/>
              <p:cNvSpPr txBox="1"/>
              <p:nvPr/>
            </p:nvSpPr>
            <p:spPr>
              <a:xfrm>
                <a:off x="2935224" y="8469868"/>
                <a:ext cx="2075687" cy="492443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algn="l"/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แสงและมุมกล้องมีผลต่อผลลัพธ์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→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ปรับมุม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/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แสง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และเพิ่มข้อมูลฝึก</a:t>
                </a:r>
                <a:endParaRPr sz="8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l"/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เพิ่มข้อมูลให้หลากหลายมากขึ้น</a:t>
                </a:r>
                <a:endParaRPr sz="800" b="0" dirty="0">
                  <a:solidFill>
                    <a:srgbClr val="EFFFF8"/>
                  </a:solidFill>
                  <a:latin typeface="Tahoma"/>
                </a:endParaRPr>
              </a:p>
              <a:p>
                <a:pPr algn="l"/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เพิ่มฟังก์ชันแจ้งเตือนผ่านแอป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(Line Notify)</a:t>
                </a:r>
              </a:p>
              <a:p>
                <a:pPr algn="l"/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•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ต่อยอดควบคุม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ความชื้น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/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ปุ๋ย</a:t>
                </a:r>
                <a:r>
                  <a:rPr sz="800" b="0" dirty="0">
                    <a:solidFill>
                      <a:srgbClr val="EFFFF8"/>
                    </a:solidFill>
                    <a:latin typeface="Tahoma"/>
                  </a:rPr>
                  <a:t> / </a:t>
                </a:r>
                <a:r>
                  <a:rPr sz="800" b="0" dirty="0" err="1">
                    <a:solidFill>
                      <a:srgbClr val="EFFFF8"/>
                    </a:solidFill>
                    <a:latin typeface="Tahoma"/>
                  </a:rPr>
                  <a:t>ระบบรดน้ำ</a:t>
                </a:r>
                <a:endParaRPr sz="800" b="0" dirty="0">
                  <a:solidFill>
                    <a:srgbClr val="EFFFF8"/>
                  </a:solidFill>
                  <a:latin typeface="Tahoma"/>
                </a:endParaRPr>
              </a:p>
            </p:txBody>
          </p:sp>
        </p:grpSp>
        <p:grpSp>
          <p:nvGrpSpPr>
            <p:cNvPr id="561" name="Group 560">
              <a:extLst>
                <a:ext uri="{FF2B5EF4-FFF2-40B4-BE49-F238E27FC236}">
                  <a16:creationId xmlns:a16="http://schemas.microsoft.com/office/drawing/2014/main" id="{B5BA6EDF-A1FE-469B-8400-AB5BD4233E65}"/>
                </a:ext>
              </a:extLst>
            </p:cNvPr>
            <p:cNvGrpSpPr/>
            <p:nvPr/>
          </p:nvGrpSpPr>
          <p:grpSpPr>
            <a:xfrm>
              <a:off x="5218938" y="8302752"/>
              <a:ext cx="2176272" cy="713232"/>
              <a:chOff x="5315712" y="8302752"/>
              <a:chExt cx="2176272" cy="713232"/>
            </a:xfrm>
          </p:grpSpPr>
          <p:sp>
            <p:nvSpPr>
              <p:cNvPr id="460" name="Rounded Rectangle 459"/>
              <p:cNvSpPr/>
              <p:nvPr/>
            </p:nvSpPr>
            <p:spPr>
              <a:xfrm>
                <a:off x="5315712" y="8302752"/>
                <a:ext cx="2176272" cy="713232"/>
              </a:xfrm>
              <a:prstGeom prst="roundRect">
                <a:avLst/>
              </a:prstGeom>
              <a:solidFill>
                <a:srgbClr val="061F16"/>
              </a:solidFill>
              <a:ln w="15240">
                <a:solidFill>
                  <a:srgbClr val="1EF28D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1" name="TextBox 460"/>
              <p:cNvSpPr txBox="1"/>
              <p:nvPr/>
            </p:nvSpPr>
            <p:spPr>
              <a:xfrm>
                <a:off x="5468112" y="8330184"/>
                <a:ext cx="1280160" cy="12801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780" b="1" dirty="0">
                    <a:solidFill>
                      <a:srgbClr val="1EF28D"/>
                    </a:solidFill>
                    <a:latin typeface="Tahoma"/>
                  </a:rPr>
                  <a:t>Key Technologies</a:t>
                </a:r>
              </a:p>
            </p:txBody>
          </p:sp>
          <p:grpSp>
            <p:nvGrpSpPr>
              <p:cNvPr id="555" name="Group 554">
                <a:extLst>
                  <a:ext uri="{FF2B5EF4-FFF2-40B4-BE49-F238E27FC236}">
                    <a16:creationId xmlns:a16="http://schemas.microsoft.com/office/drawing/2014/main" id="{96DD2234-E6CD-4955-A252-3D40000F648C}"/>
                  </a:ext>
                </a:extLst>
              </p:cNvPr>
              <p:cNvGrpSpPr/>
              <p:nvPr/>
            </p:nvGrpSpPr>
            <p:grpSpPr>
              <a:xfrm>
                <a:off x="5542178" y="8587130"/>
                <a:ext cx="181051" cy="181051"/>
                <a:chOff x="5542178" y="8605418"/>
                <a:chExt cx="181051" cy="181051"/>
              </a:xfrm>
            </p:grpSpPr>
            <p:sp>
              <p:nvSpPr>
                <p:cNvPr id="462" name="Rectangle 461"/>
                <p:cNvSpPr/>
                <p:nvPr/>
              </p:nvSpPr>
              <p:spPr>
                <a:xfrm>
                  <a:off x="5575096" y="8638336"/>
                  <a:ext cx="115214" cy="115214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1EF28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63" name="Connector 462"/>
                <p:cNvCxnSpPr>
                  <a:cxnSpLocks/>
                </p:cNvCxnSpPr>
                <p:nvPr/>
              </p:nvCxnSpPr>
              <p:spPr>
                <a:xfrm>
                  <a:off x="5542178" y="8654796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Connector 463"/>
                <p:cNvCxnSpPr>
                  <a:cxnSpLocks/>
                </p:cNvCxnSpPr>
                <p:nvPr/>
              </p:nvCxnSpPr>
              <p:spPr>
                <a:xfrm>
                  <a:off x="5690311" y="8654796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Connector 464"/>
                <p:cNvCxnSpPr>
                  <a:cxnSpLocks/>
                </p:cNvCxnSpPr>
                <p:nvPr/>
              </p:nvCxnSpPr>
              <p:spPr>
                <a:xfrm>
                  <a:off x="5591556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Connector 465"/>
                <p:cNvCxnSpPr>
                  <a:cxnSpLocks/>
                </p:cNvCxnSpPr>
                <p:nvPr/>
              </p:nvCxnSpPr>
              <p:spPr>
                <a:xfrm>
                  <a:off x="5591556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Connector 466"/>
                <p:cNvCxnSpPr>
                  <a:cxnSpLocks/>
                </p:cNvCxnSpPr>
                <p:nvPr/>
              </p:nvCxnSpPr>
              <p:spPr>
                <a:xfrm>
                  <a:off x="5542178" y="8695944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Connector 467"/>
                <p:cNvCxnSpPr>
                  <a:cxnSpLocks/>
                </p:cNvCxnSpPr>
                <p:nvPr/>
              </p:nvCxnSpPr>
              <p:spPr>
                <a:xfrm>
                  <a:off x="5690311" y="8695944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Connector 468"/>
                <p:cNvCxnSpPr>
                  <a:cxnSpLocks/>
                </p:cNvCxnSpPr>
                <p:nvPr/>
              </p:nvCxnSpPr>
              <p:spPr>
                <a:xfrm>
                  <a:off x="5632704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Connector 469"/>
                <p:cNvCxnSpPr>
                  <a:cxnSpLocks/>
                </p:cNvCxnSpPr>
                <p:nvPr/>
              </p:nvCxnSpPr>
              <p:spPr>
                <a:xfrm>
                  <a:off x="5632704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Connector 470"/>
                <p:cNvCxnSpPr>
                  <a:cxnSpLocks/>
                </p:cNvCxnSpPr>
                <p:nvPr/>
              </p:nvCxnSpPr>
              <p:spPr>
                <a:xfrm>
                  <a:off x="5542178" y="8737092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Connector 471"/>
                <p:cNvCxnSpPr>
                  <a:cxnSpLocks/>
                </p:cNvCxnSpPr>
                <p:nvPr/>
              </p:nvCxnSpPr>
              <p:spPr>
                <a:xfrm>
                  <a:off x="5690311" y="8737092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Connector 472"/>
                <p:cNvCxnSpPr>
                  <a:cxnSpLocks/>
                </p:cNvCxnSpPr>
                <p:nvPr/>
              </p:nvCxnSpPr>
              <p:spPr>
                <a:xfrm>
                  <a:off x="5673852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Connector 473"/>
                <p:cNvCxnSpPr>
                  <a:cxnSpLocks/>
                </p:cNvCxnSpPr>
                <p:nvPr/>
              </p:nvCxnSpPr>
              <p:spPr>
                <a:xfrm>
                  <a:off x="5673852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5" name="TextBox 474"/>
              <p:cNvSpPr txBox="1"/>
              <p:nvPr/>
            </p:nvSpPr>
            <p:spPr>
              <a:xfrm>
                <a:off x="5495544" y="8817864"/>
                <a:ext cx="3200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0" dirty="0">
                    <a:solidFill>
                      <a:srgbClr val="EFFFF8"/>
                    </a:solidFill>
                    <a:latin typeface="Tahoma"/>
                  </a:rPr>
                  <a:t>AI / Edge TPU</a:t>
                </a:r>
              </a:p>
            </p:txBody>
          </p:sp>
          <p:grpSp>
            <p:nvGrpSpPr>
              <p:cNvPr id="556" name="Group 555">
                <a:extLst>
                  <a:ext uri="{FF2B5EF4-FFF2-40B4-BE49-F238E27FC236}">
                    <a16:creationId xmlns:a16="http://schemas.microsoft.com/office/drawing/2014/main" id="{8517B6A7-E5E4-4574-A451-9F0E135C38E8}"/>
                  </a:ext>
                </a:extLst>
              </p:cNvPr>
              <p:cNvGrpSpPr/>
              <p:nvPr/>
            </p:nvGrpSpPr>
            <p:grpSpPr>
              <a:xfrm>
                <a:off x="5943600" y="8601456"/>
                <a:ext cx="146304" cy="146304"/>
                <a:chOff x="5943600" y="8613648"/>
                <a:chExt cx="146304" cy="146304"/>
              </a:xfrm>
            </p:grpSpPr>
            <p:sp>
              <p:nvSpPr>
                <p:cNvPr id="476" name="Oval 475"/>
                <p:cNvSpPr/>
                <p:nvPr/>
              </p:nvSpPr>
              <p:spPr>
                <a:xfrm>
                  <a:off x="5943600" y="8613648"/>
                  <a:ext cx="146304" cy="146304"/>
                </a:xfrm>
                <a:prstGeom prst="ellipse">
                  <a:avLst/>
                </a:prstGeom>
                <a:solidFill>
                  <a:srgbClr val="F4CB53"/>
                </a:solidFill>
                <a:ln w="15240">
                  <a:solidFill>
                    <a:srgbClr val="F4CB5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77" name="TextBox 476"/>
                <p:cNvSpPr txBox="1"/>
                <p:nvPr/>
              </p:nvSpPr>
              <p:spPr>
                <a:xfrm>
                  <a:off x="5948172" y="8650224"/>
                  <a:ext cx="137160" cy="4572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sz="500" b="1" dirty="0" err="1">
                      <a:solidFill>
                        <a:srgbClr val="04110C"/>
                      </a:solidFill>
                      <a:latin typeface="Arial"/>
                    </a:rPr>
                    <a:t>Py</a:t>
                  </a:r>
                  <a:endParaRPr sz="500" b="1" dirty="0">
                    <a:solidFill>
                      <a:srgbClr val="04110C"/>
                    </a:solidFill>
                    <a:latin typeface="Arial"/>
                  </a:endParaRPr>
                </a:p>
              </p:txBody>
            </p:sp>
          </p:grpSp>
          <p:sp>
            <p:nvSpPr>
              <p:cNvPr id="478" name="TextBox 477"/>
              <p:cNvSpPr txBox="1"/>
              <p:nvPr/>
            </p:nvSpPr>
            <p:spPr>
              <a:xfrm>
                <a:off x="5879592" y="8860536"/>
                <a:ext cx="320040" cy="923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0">
                    <a:solidFill>
                      <a:srgbClr val="EFFFF8"/>
                    </a:solidFill>
                    <a:latin typeface="Tahoma"/>
                  </a:rPr>
                  <a:t>Python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CBD774CB-3638-4DD4-8A86-82737C89F965}"/>
                  </a:ext>
                </a:extLst>
              </p:cNvPr>
              <p:cNvGrpSpPr/>
              <p:nvPr/>
            </p:nvGrpSpPr>
            <p:grpSpPr>
              <a:xfrm>
                <a:off x="6318504" y="8642604"/>
                <a:ext cx="164592" cy="82296"/>
                <a:chOff x="6318504" y="8654796"/>
                <a:chExt cx="164592" cy="82296"/>
              </a:xfrm>
            </p:grpSpPr>
            <p:sp>
              <p:nvSpPr>
                <p:cNvPr id="479" name="Rounded Rectangle 478"/>
                <p:cNvSpPr/>
                <p:nvPr/>
              </p:nvSpPr>
              <p:spPr>
                <a:xfrm>
                  <a:off x="6318504" y="8654796"/>
                  <a:ext cx="164592" cy="82296"/>
                </a:xfrm>
                <a:prstGeom prst="roundRect">
                  <a:avLst/>
                </a:prstGeom>
                <a:solidFill>
                  <a:srgbClr val="061F16"/>
                </a:solidFill>
                <a:ln w="12700">
                  <a:solidFill>
                    <a:srgbClr val="49A0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80" name="TextBox 479"/>
                <p:cNvSpPr txBox="1"/>
                <p:nvPr/>
              </p:nvSpPr>
              <p:spPr>
                <a:xfrm>
                  <a:off x="6341546" y="8682776"/>
                  <a:ext cx="118506" cy="263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300" b="1">
                      <a:solidFill>
                        <a:srgbClr val="49A0FF"/>
                      </a:solidFill>
                      <a:latin typeface="Arial"/>
                    </a:rPr>
                    <a:t>MQTT</a:t>
                  </a:r>
                </a:p>
              </p:txBody>
            </p:sp>
          </p:grpSp>
          <p:sp>
            <p:nvSpPr>
              <p:cNvPr id="481" name="TextBox 480"/>
              <p:cNvSpPr txBox="1"/>
              <p:nvPr/>
            </p:nvSpPr>
            <p:spPr>
              <a:xfrm>
                <a:off x="6263640" y="8860536"/>
                <a:ext cx="320040" cy="923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0">
                    <a:solidFill>
                      <a:srgbClr val="EFFFF8"/>
                    </a:solidFill>
                    <a:latin typeface="Tahoma"/>
                  </a:rPr>
                  <a:t>MQTT</a:t>
                </a:r>
              </a:p>
            </p:txBody>
          </p:sp>
          <p:grpSp>
            <p:nvGrpSpPr>
              <p:cNvPr id="558" name="Group 557">
                <a:extLst>
                  <a:ext uri="{FF2B5EF4-FFF2-40B4-BE49-F238E27FC236}">
                    <a16:creationId xmlns:a16="http://schemas.microsoft.com/office/drawing/2014/main" id="{17798F4F-4F83-489E-B276-7ACAFF221A95}"/>
                  </a:ext>
                </a:extLst>
              </p:cNvPr>
              <p:cNvGrpSpPr/>
              <p:nvPr/>
            </p:nvGrpSpPr>
            <p:grpSpPr>
              <a:xfrm>
                <a:off x="6694322" y="8593226"/>
                <a:ext cx="181051" cy="181051"/>
                <a:chOff x="6694322" y="8605418"/>
                <a:chExt cx="181051" cy="181051"/>
              </a:xfrm>
            </p:grpSpPr>
            <p:sp>
              <p:nvSpPr>
                <p:cNvPr id="482" name="Rectangle 481"/>
                <p:cNvSpPr/>
                <p:nvPr/>
              </p:nvSpPr>
              <p:spPr>
                <a:xfrm>
                  <a:off x="6727240" y="8638336"/>
                  <a:ext cx="115214" cy="115214"/>
                </a:xfrm>
                <a:prstGeom prst="rect">
                  <a:avLst/>
                </a:prstGeom>
                <a:solidFill>
                  <a:srgbClr val="061F16"/>
                </a:solidFill>
                <a:ln w="12700">
                  <a:solidFill>
                    <a:srgbClr val="1EF28D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483" name="Connector 482"/>
                <p:cNvCxnSpPr>
                  <a:cxnSpLocks/>
                </p:cNvCxnSpPr>
                <p:nvPr/>
              </p:nvCxnSpPr>
              <p:spPr>
                <a:xfrm>
                  <a:off x="6694322" y="8654796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Connector 483"/>
                <p:cNvCxnSpPr>
                  <a:cxnSpLocks/>
                </p:cNvCxnSpPr>
                <p:nvPr/>
              </p:nvCxnSpPr>
              <p:spPr>
                <a:xfrm>
                  <a:off x="6842455" y="8654796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Connector 484"/>
                <p:cNvCxnSpPr>
                  <a:cxnSpLocks/>
                </p:cNvCxnSpPr>
                <p:nvPr/>
              </p:nvCxnSpPr>
              <p:spPr>
                <a:xfrm>
                  <a:off x="6743700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Connector 485"/>
                <p:cNvCxnSpPr>
                  <a:cxnSpLocks/>
                </p:cNvCxnSpPr>
                <p:nvPr/>
              </p:nvCxnSpPr>
              <p:spPr>
                <a:xfrm>
                  <a:off x="6743700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Connector 486"/>
                <p:cNvCxnSpPr>
                  <a:cxnSpLocks/>
                </p:cNvCxnSpPr>
                <p:nvPr/>
              </p:nvCxnSpPr>
              <p:spPr>
                <a:xfrm>
                  <a:off x="6694322" y="8695944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Connector 487"/>
                <p:cNvCxnSpPr>
                  <a:cxnSpLocks/>
                </p:cNvCxnSpPr>
                <p:nvPr/>
              </p:nvCxnSpPr>
              <p:spPr>
                <a:xfrm>
                  <a:off x="6842455" y="8695944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Connector 488"/>
                <p:cNvCxnSpPr>
                  <a:cxnSpLocks/>
                </p:cNvCxnSpPr>
                <p:nvPr/>
              </p:nvCxnSpPr>
              <p:spPr>
                <a:xfrm>
                  <a:off x="6784848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Connector 489"/>
                <p:cNvCxnSpPr>
                  <a:cxnSpLocks/>
                </p:cNvCxnSpPr>
                <p:nvPr/>
              </p:nvCxnSpPr>
              <p:spPr>
                <a:xfrm>
                  <a:off x="6784848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Connector 490"/>
                <p:cNvCxnSpPr>
                  <a:cxnSpLocks/>
                </p:cNvCxnSpPr>
                <p:nvPr/>
              </p:nvCxnSpPr>
              <p:spPr>
                <a:xfrm>
                  <a:off x="6694322" y="8737092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Connector 491"/>
                <p:cNvCxnSpPr>
                  <a:cxnSpLocks/>
                </p:cNvCxnSpPr>
                <p:nvPr/>
              </p:nvCxnSpPr>
              <p:spPr>
                <a:xfrm>
                  <a:off x="6842455" y="8737092"/>
                  <a:ext cx="32918" cy="0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Connector 492"/>
                <p:cNvCxnSpPr>
                  <a:cxnSpLocks/>
                </p:cNvCxnSpPr>
                <p:nvPr/>
              </p:nvCxnSpPr>
              <p:spPr>
                <a:xfrm>
                  <a:off x="6825996" y="8605418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Connector 493"/>
                <p:cNvCxnSpPr>
                  <a:cxnSpLocks/>
                </p:cNvCxnSpPr>
                <p:nvPr/>
              </p:nvCxnSpPr>
              <p:spPr>
                <a:xfrm>
                  <a:off x="6825996" y="8753551"/>
                  <a:ext cx="0" cy="32918"/>
                </a:xfrm>
                <a:prstGeom prst="line">
                  <a:avLst/>
                </a:prstGeom>
                <a:ln w="10160">
                  <a:solidFill>
                    <a:srgbClr val="1EF28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5" name="TextBox 494"/>
              <p:cNvSpPr txBox="1"/>
              <p:nvPr/>
            </p:nvSpPr>
            <p:spPr>
              <a:xfrm>
                <a:off x="6647688" y="8823960"/>
                <a:ext cx="320040" cy="18466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0" dirty="0">
                    <a:solidFill>
                      <a:srgbClr val="EFFFF8"/>
                    </a:solidFill>
                    <a:latin typeface="Tahoma"/>
                  </a:rPr>
                  <a:t>IoT / ESP32</a:t>
                </a:r>
              </a:p>
            </p:txBody>
          </p:sp>
          <p:grpSp>
            <p:nvGrpSpPr>
              <p:cNvPr id="559" name="Group 558">
                <a:extLst>
                  <a:ext uri="{FF2B5EF4-FFF2-40B4-BE49-F238E27FC236}">
                    <a16:creationId xmlns:a16="http://schemas.microsoft.com/office/drawing/2014/main" id="{6902205D-2321-4F0F-AD5B-1186E7BE5BAB}"/>
                  </a:ext>
                </a:extLst>
              </p:cNvPr>
              <p:cNvGrpSpPr/>
              <p:nvPr/>
            </p:nvGrpSpPr>
            <p:grpSpPr>
              <a:xfrm>
                <a:off x="7086600" y="8601456"/>
                <a:ext cx="164592" cy="73152"/>
                <a:chOff x="7086600" y="8613648"/>
                <a:chExt cx="164592" cy="73152"/>
              </a:xfrm>
            </p:grpSpPr>
            <p:cxnSp>
              <p:nvCxnSpPr>
                <p:cNvPr id="496" name="Connector 495"/>
                <p:cNvCxnSpPr>
                  <a:cxnSpLocks/>
                </p:cNvCxnSpPr>
                <p:nvPr/>
              </p:nvCxnSpPr>
              <p:spPr>
                <a:xfrm flipV="1">
                  <a:off x="7086600" y="8613648"/>
                  <a:ext cx="73152" cy="73152"/>
                </a:xfrm>
                <a:prstGeom prst="line">
                  <a:avLst/>
                </a:prstGeom>
                <a:ln w="1270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Connector 496"/>
                <p:cNvCxnSpPr>
                  <a:cxnSpLocks/>
                </p:cNvCxnSpPr>
                <p:nvPr/>
              </p:nvCxnSpPr>
              <p:spPr>
                <a:xfrm flipV="1">
                  <a:off x="7178040" y="8613648"/>
                  <a:ext cx="73152" cy="73152"/>
                </a:xfrm>
                <a:prstGeom prst="line">
                  <a:avLst/>
                </a:prstGeom>
                <a:ln w="12700">
                  <a:solidFill>
                    <a:srgbClr val="EFFFF8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8" name="TextBox 497"/>
              <p:cNvSpPr txBox="1"/>
              <p:nvPr/>
            </p:nvSpPr>
            <p:spPr>
              <a:xfrm>
                <a:off x="7031736" y="8860536"/>
                <a:ext cx="320040" cy="9233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/>
                <a:r>
                  <a:rPr sz="600" b="0">
                    <a:solidFill>
                      <a:srgbClr val="EFFFF8"/>
                    </a:solidFill>
                    <a:latin typeface="Tahoma"/>
                  </a:rPr>
                  <a:t>Sensors</a:t>
                </a:r>
              </a:p>
            </p:txBody>
          </p:sp>
        </p:grpSp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7C775D68-430B-4710-86BD-7C056CB2C6C6}"/>
              </a:ext>
            </a:extLst>
          </p:cNvPr>
          <p:cNvGrpSpPr/>
          <p:nvPr/>
        </p:nvGrpSpPr>
        <p:grpSpPr>
          <a:xfrm>
            <a:off x="274320" y="9208007"/>
            <a:ext cx="7040880" cy="1076216"/>
            <a:chOff x="274320" y="9208008"/>
            <a:chExt cx="7040880" cy="758952"/>
          </a:xfrm>
        </p:grpSpPr>
        <p:sp>
          <p:nvSpPr>
            <p:cNvPr id="499" name="Rounded Rectangle 498"/>
            <p:cNvSpPr/>
            <p:nvPr/>
          </p:nvSpPr>
          <p:spPr>
            <a:xfrm>
              <a:off x="274320" y="9208008"/>
              <a:ext cx="7040880" cy="758952"/>
            </a:xfrm>
            <a:prstGeom prst="roundRect">
              <a:avLst/>
            </a:prstGeom>
            <a:solidFill>
              <a:srgbClr val="061F16"/>
            </a:solidFill>
            <a:ln w="15240">
              <a:solidFill>
                <a:srgbClr val="1EF28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0" name="TextBox 499"/>
            <p:cNvSpPr txBox="1"/>
            <p:nvPr/>
          </p:nvSpPr>
          <p:spPr>
            <a:xfrm>
              <a:off x="438912" y="9232392"/>
              <a:ext cx="548640" cy="21544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1" dirty="0" err="1">
                  <a:solidFill>
                    <a:srgbClr val="1EF28D"/>
                  </a:solidFill>
                  <a:latin typeface="Tahoma"/>
                </a:rPr>
                <a:t>สรุป</a:t>
              </a:r>
              <a:endParaRPr sz="1400" b="1" dirty="0">
                <a:solidFill>
                  <a:srgbClr val="1EF28D"/>
                </a:solidFill>
                <a:latin typeface="Tahoma"/>
              </a:endParaRPr>
            </a:p>
          </p:txBody>
        </p:sp>
        <p:sp>
          <p:nvSpPr>
            <p:cNvPr id="501" name="TextBox 500"/>
            <p:cNvSpPr txBox="1"/>
            <p:nvPr/>
          </p:nvSpPr>
          <p:spPr>
            <a:xfrm>
              <a:off x="438912" y="9421368"/>
              <a:ext cx="6675120" cy="434091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l"/>
              <a:r>
                <a:rPr sz="1000" b="0" dirty="0">
                  <a:solidFill>
                    <a:srgbClr val="EFFFF8"/>
                  </a:solidFill>
                  <a:latin typeface="Tahoma"/>
                </a:rPr>
                <a:t>Plant Vision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เป็นต้นแบบระบบตรวจจับสภาพต้นไม้อัจฉริยะ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ด้วย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AI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บน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Edge TPU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สามารถตรวจจับสภาพได้แบบ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Real-time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และส่งผลผ่าน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MQTT</a:t>
              </a:r>
            </a:p>
            <a:p>
              <a:pPr algn="l"/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ผลการทดลองสามารถแสดงภาพจาก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Coral Dev Board Micro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พร้อม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Bounding Box, Confidence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และ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FPS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ผ่าน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Python GUI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ได้</a:t>
              </a:r>
              <a:endParaRPr sz="1000" b="0" dirty="0">
                <a:solidFill>
                  <a:srgbClr val="EFFFF8"/>
                </a:solidFill>
                <a:latin typeface="Tahoma"/>
              </a:endParaRPr>
            </a:p>
            <a:p>
              <a:pPr algn="l"/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ระบบมีผล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Detect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โดยรวมประมาณ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60%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และยังสามารถพัฒนาต่อด้วยการเพิ่ม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Dataset, Sensor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และระบบควบคุมอัตโนมัติ</a:t>
              </a:r>
              <a:endParaRPr sz="1000" b="0" dirty="0">
                <a:solidFill>
                  <a:srgbClr val="EFFFF8"/>
                </a:solidFill>
                <a:latin typeface="Tahoma"/>
              </a:endParaRPr>
            </a:p>
            <a:p>
              <a:pPr algn="l"/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แนวทางต่อยอดคือการเชื่อมต่อ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ESP32, Sensor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ความชื้นดิน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,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ปั๊มน้ำ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และระบบแจ้งเตือน</a:t>
              </a:r>
              <a:r>
                <a:rPr sz="1000" b="0" dirty="0">
                  <a:solidFill>
                    <a:srgbClr val="EFFFF8"/>
                  </a:solidFill>
                  <a:latin typeface="Tahoma"/>
                </a:rPr>
                <a:t> </a:t>
              </a:r>
              <a:r>
                <a:rPr sz="1000" b="0" dirty="0" err="1">
                  <a:solidFill>
                    <a:srgbClr val="EFFFF8"/>
                  </a:solidFill>
                  <a:latin typeface="Tahoma"/>
                </a:rPr>
                <a:t>เพื่อช่วยลดภาระของผู้ดูแลต้นไม้</a:t>
              </a:r>
              <a:endParaRPr sz="1000" b="0" dirty="0">
                <a:solidFill>
                  <a:srgbClr val="EFFFF8"/>
                </a:solidFill>
                <a:latin typeface="Tahoma"/>
              </a:endParaRPr>
            </a:p>
          </p:txBody>
        </p:sp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6361650F-6FD1-47EA-B51F-2AB6E8076DAF}"/>
              </a:ext>
            </a:extLst>
          </p:cNvPr>
          <p:cNvGrpSpPr/>
          <p:nvPr/>
        </p:nvGrpSpPr>
        <p:grpSpPr>
          <a:xfrm>
            <a:off x="1266825" y="10378440"/>
            <a:ext cx="5029200" cy="144298"/>
            <a:chOff x="1266825" y="10378440"/>
            <a:chExt cx="5029200" cy="144298"/>
          </a:xfrm>
        </p:grpSpPr>
        <p:cxnSp>
          <p:nvCxnSpPr>
            <p:cNvPr id="502" name="Connector 501"/>
            <p:cNvCxnSpPr>
              <a:cxnSpLocks/>
            </p:cNvCxnSpPr>
            <p:nvPr/>
          </p:nvCxnSpPr>
          <p:spPr>
            <a:xfrm>
              <a:off x="2044065" y="10378440"/>
              <a:ext cx="3474720" cy="0"/>
            </a:xfrm>
            <a:prstGeom prst="line">
              <a:avLst/>
            </a:prstGeom>
            <a:ln w="10160">
              <a:solidFill>
                <a:srgbClr val="0D553E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3" name="TextBox 502"/>
            <p:cNvSpPr txBox="1"/>
            <p:nvPr/>
          </p:nvSpPr>
          <p:spPr>
            <a:xfrm>
              <a:off x="1266825" y="10415016"/>
              <a:ext cx="5029200" cy="10772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700" b="0" dirty="0" err="1">
                  <a:solidFill>
                    <a:srgbClr val="BEFFE2"/>
                  </a:solidFill>
                  <a:latin typeface="Tahoma"/>
                </a:rPr>
                <a:t>คณะวิศวกรรมศาสตร์และเทคโนโลยี</a:t>
              </a:r>
              <a:r>
                <a:rPr sz="700" b="0" dirty="0">
                  <a:solidFill>
                    <a:srgbClr val="BEFFE2"/>
                  </a:solidFill>
                  <a:latin typeface="Tahoma"/>
                </a:rPr>
                <a:t>   </a:t>
              </a:r>
              <a:r>
                <a:rPr sz="700" b="0" dirty="0" err="1">
                  <a:solidFill>
                    <a:srgbClr val="BEFFE2"/>
                  </a:solidFill>
                  <a:latin typeface="Tahoma"/>
                </a:rPr>
                <a:t>มหาวิทยาลัยเทคโนโลยีสุรนารี</a:t>
              </a:r>
              <a:r>
                <a:rPr sz="700" b="0" dirty="0">
                  <a:solidFill>
                    <a:srgbClr val="BEFFE2"/>
                  </a:solidFill>
                  <a:latin typeface="Tahoma"/>
                </a:rPr>
                <a:t>   |   </a:t>
              </a:r>
              <a:r>
                <a:rPr sz="700" b="0" dirty="0" err="1">
                  <a:solidFill>
                    <a:srgbClr val="BEFFE2"/>
                  </a:solidFill>
                  <a:latin typeface="Tahoma"/>
                </a:rPr>
                <a:t>ปีการศึกษา</a:t>
              </a:r>
              <a:r>
                <a:rPr sz="700" b="0" dirty="0">
                  <a:solidFill>
                    <a:srgbClr val="BEFFE2"/>
                  </a:solidFill>
                  <a:latin typeface="Tahoma"/>
                </a:rPr>
                <a:t> 2567</a:t>
              </a:r>
            </a:p>
          </p:txBody>
        </p:sp>
      </p:grpSp>
      <p:pic>
        <p:nvPicPr>
          <p:cNvPr id="565" name="Picture 564" hidden="1">
            <a:extLst>
              <a:ext uri="{FF2B5EF4-FFF2-40B4-BE49-F238E27FC236}">
                <a16:creationId xmlns:a16="http://schemas.microsoft.com/office/drawing/2014/main" id="{30A9E4F1-6221-4EFC-9C7F-D402D9FB3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087" y="381840"/>
            <a:ext cx="594118" cy="5941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78" name="Picture 577">
            <a:extLst>
              <a:ext uri="{FF2B5EF4-FFF2-40B4-BE49-F238E27FC236}">
                <a16:creationId xmlns:a16="http://schemas.microsoft.com/office/drawing/2014/main" id="{48DD59E5-EA3B-49E9-BDD1-56F0A5CFC2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46" b="1146"/>
          <a:stretch>
            <a:fillRect/>
          </a:stretch>
        </p:blipFill>
        <p:spPr>
          <a:xfrm>
            <a:off x="4891810" y="439344"/>
            <a:ext cx="523518" cy="523518"/>
          </a:xfrm>
          <a:custGeom>
            <a:avLst/>
            <a:gdLst>
              <a:gd name="connsiteX0" fmla="*/ 261759 w 523518"/>
              <a:gd name="connsiteY0" fmla="*/ 0 h 523518"/>
              <a:gd name="connsiteX1" fmla="*/ 523518 w 523518"/>
              <a:gd name="connsiteY1" fmla="*/ 261759 h 523518"/>
              <a:gd name="connsiteX2" fmla="*/ 261759 w 523518"/>
              <a:gd name="connsiteY2" fmla="*/ 523518 h 523518"/>
              <a:gd name="connsiteX3" fmla="*/ 0 w 523518"/>
              <a:gd name="connsiteY3" fmla="*/ 261759 h 523518"/>
              <a:gd name="connsiteX4" fmla="*/ 261759 w 523518"/>
              <a:gd name="connsiteY4" fmla="*/ 0 h 523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3518" h="523518">
                <a:moveTo>
                  <a:pt x="261759" y="0"/>
                </a:moveTo>
                <a:cubicBezTo>
                  <a:pt x="406325" y="0"/>
                  <a:pt x="523518" y="117193"/>
                  <a:pt x="523518" y="261759"/>
                </a:cubicBezTo>
                <a:cubicBezTo>
                  <a:pt x="523518" y="406325"/>
                  <a:pt x="406325" y="523518"/>
                  <a:pt x="261759" y="523518"/>
                </a:cubicBezTo>
                <a:cubicBezTo>
                  <a:pt x="117193" y="523518"/>
                  <a:pt x="0" y="406325"/>
                  <a:pt x="0" y="261759"/>
                </a:cubicBezTo>
                <a:cubicBezTo>
                  <a:pt x="0" y="117193"/>
                  <a:pt x="117193" y="0"/>
                  <a:pt x="261759" y="0"/>
                </a:cubicBezTo>
                <a:close/>
              </a:path>
            </a:pathLst>
          </a:custGeom>
        </p:spPr>
      </p:pic>
      <p:grpSp>
        <p:nvGrpSpPr>
          <p:cNvPr id="580" name="Group 579">
            <a:extLst>
              <a:ext uri="{FF2B5EF4-FFF2-40B4-BE49-F238E27FC236}">
                <a16:creationId xmlns:a16="http://schemas.microsoft.com/office/drawing/2014/main" id="{287CBAE7-BB9D-479B-ABF9-51EB15514EDA}"/>
              </a:ext>
            </a:extLst>
          </p:cNvPr>
          <p:cNvGrpSpPr/>
          <p:nvPr/>
        </p:nvGrpSpPr>
        <p:grpSpPr>
          <a:xfrm>
            <a:off x="4430259" y="419531"/>
            <a:ext cx="394147" cy="543329"/>
            <a:chOff x="3516088" y="241300"/>
            <a:chExt cx="282863" cy="389925"/>
          </a:xfrm>
        </p:grpSpPr>
        <p:sp>
          <p:nvSpPr>
            <p:cNvPr id="579" name="Rectangle: Rounded Corners 578">
              <a:extLst>
                <a:ext uri="{FF2B5EF4-FFF2-40B4-BE49-F238E27FC236}">
                  <a16:creationId xmlns:a16="http://schemas.microsoft.com/office/drawing/2014/main" id="{D1F81B3D-291F-421A-B383-C0A6E419DE78}"/>
                </a:ext>
              </a:extLst>
            </p:cNvPr>
            <p:cNvSpPr/>
            <p:nvPr/>
          </p:nvSpPr>
          <p:spPr>
            <a:xfrm>
              <a:off x="3516088" y="241300"/>
              <a:ext cx="282863" cy="389925"/>
            </a:xfrm>
            <a:prstGeom prst="round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pic>
          <p:nvPicPr>
            <p:cNvPr id="569" name="Picture 568">
              <a:extLst>
                <a:ext uri="{FF2B5EF4-FFF2-40B4-BE49-F238E27FC236}">
                  <a16:creationId xmlns:a16="http://schemas.microsoft.com/office/drawing/2014/main" id="{CAF2F782-BC6E-4A72-8283-378609DFA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523709" y="264477"/>
              <a:ext cx="268952" cy="3493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591</Words>
  <Application>Microsoft Office PowerPoint</Application>
  <PresentationFormat>Custom</PresentationFormat>
  <Paragraphs>140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Tahoma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AISU ..</dc:creator>
  <cp:keywords/>
  <dc:description>generated using python-pptx</dc:description>
  <cp:lastModifiedBy>AISU ..</cp:lastModifiedBy>
  <cp:revision>9</cp:revision>
  <dcterms:created xsi:type="dcterms:W3CDTF">2013-01-27T09:14:16Z</dcterms:created>
  <dcterms:modified xsi:type="dcterms:W3CDTF">2026-05-27T05:43:07Z</dcterms:modified>
  <cp:category/>
</cp:coreProperties>
</file>