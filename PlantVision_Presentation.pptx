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205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49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jp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jpg"/><Relationship Id="rId1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9.png"/><Relationship Id="rId4" Type="http://schemas.openxmlformats.org/officeDocument/2006/relationships/image" Target="../media/image37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.png"/><Relationship Id="rId10" Type="http://schemas.openxmlformats.org/officeDocument/2006/relationships/image" Target="../media/image48.png"/><Relationship Id="rId4" Type="http://schemas.openxmlformats.org/officeDocument/2006/relationships/image" Target="../media/image45.pn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-1280160"/>
            <a:ext cx="3108960" cy="310896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029200"/>
            <a:ext cx="2743200" cy="2743200"/>
          </a:xfrm>
          <a:prstGeom prst="ellipse">
            <a:avLst/>
          </a:prstGeom>
          <a:solidFill>
            <a:srgbClr val="52B788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5394960"/>
            <a:ext cx="2194560" cy="2194560"/>
          </a:xfrm>
          <a:prstGeom prst="ellipse">
            <a:avLst/>
          </a:prstGeom>
          <a:solidFill>
            <a:srgbClr val="2D6A4F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640080"/>
            <a:ext cx="868680" cy="86868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693" y="835533"/>
            <a:ext cx="477774" cy="47777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0" y="841248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/>
        </p:spPr>
      </p:sp>
      <p:sp>
        <p:nvSpPr>
          <p:cNvPr id="8" name="Text 5"/>
          <p:cNvSpPr/>
          <p:nvPr/>
        </p:nvSpPr>
        <p:spPr>
          <a:xfrm>
            <a:off x="1828800" y="8412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AI + IoT FOR AGRICULTURE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" y="17830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1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PLANT VISION</a:t>
            </a:r>
            <a:endParaRPr lang="en-US" sz="7800" dirty="0"/>
          </a:p>
        </p:txBody>
      </p:sp>
      <p:sp>
        <p:nvSpPr>
          <p:cNvPr id="10" name="Text 7"/>
          <p:cNvSpPr/>
          <p:nvPr/>
        </p:nvSpPr>
        <p:spPr>
          <a:xfrm>
            <a:off x="777240" y="3154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B7E4C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ระบบตรวจจับสภาพต้นไม้อัจฉริยะ บน Coral Dev Board</a:t>
            </a:r>
            <a:endParaRPr lang="en-US" sz="2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B7E4C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ด้วย AI และ IoT สำหรับการเฝ้าระวังและดูแลพืชอัตโนมัติ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77240" y="42245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10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AI Plant Condition Detection  ·  Coral Micro  ·  Python GUI  ·  MQTT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77240" y="4983480"/>
            <a:ext cx="6035040" cy="1234440"/>
          </a:xfrm>
          <a:prstGeom prst="roundRect">
            <a:avLst>
              <a:gd name="adj" fmla="val 7407"/>
            </a:avLst>
          </a:prstGeom>
          <a:solidFill>
            <a:srgbClr val="14372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5120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ผู้จัดทำ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546811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นายภัคณัฏฐ์  วชิรางกูร</a:t>
            </a:r>
            <a:endParaRPr lang="en-US" sz="1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B7E4C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B6746537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931920" y="54681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นายธีรศักดิ์  วงตา</a:t>
            </a:r>
            <a:endParaRPr lang="en-US" sz="1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B7E4C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B6727727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040880" y="5897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 err="1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คณะ</a:t>
            </a:r>
            <a:r>
              <a:rPr lang="th-TH" sz="12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</a:t>
            </a:r>
            <a:r>
              <a:rPr lang="en-US" sz="1200" dirty="0" err="1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วิศวกรรมศาสตร์</a:t>
            </a:r>
            <a:r>
              <a:rPr lang="en-US" sz="12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 </a:t>
            </a:r>
            <a:endParaRPr lang="th-TH" sz="1200" dirty="0">
              <a:solidFill>
                <a:srgbClr val="8A968F"/>
              </a:solidFill>
              <a:latin typeface="Sarabun" pitchFamily="34" charset="0"/>
              <a:ea typeface="Sarabun" pitchFamily="34" charset="-122"/>
              <a:cs typeface="Sarabun" pitchFamily="34" charset="-120"/>
            </a:endParaRPr>
          </a:p>
          <a:p>
            <a:pPr marL="0" indent="0" algn="r">
              <a:buNone/>
            </a:pPr>
            <a:r>
              <a:rPr lang="th-TH" sz="12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สาขา ระบบสมองกลอัจฉริยะและอิเล็กทรอนิกส์ความถี่สูง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01</a:t>
            </a:r>
            <a:r>
              <a:rPr lang="en-US" sz="1200" b="1" kern="0" spc="2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 ที่มาและความสำคัญ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ทำไมพืชจึงต้องการ “สายตาอัจฉริยะ”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การดูแลต้นไม้จำนวนมากต้องอาศัยคนคอยสังเกตสภาพใบและความเหี่ยวเฉาด้วยตาเปล่า ซึ่งทำได้ไม่ทั่วถึงและไม่ต่อเนื่อง เมื่อพบความผิดปกติก็มักสายเกินไป โครงงานนี้จึงนำ Edge AI มาช่วยตรวจจับสภาพต้นไม้จากภาพ เพื่อลดภาระของผู้ดูแล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3F9F5"/>
          </a:solidFill>
          <a:ln w="12700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606040"/>
            <a:ext cx="82296" cy="18745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2898648"/>
            <a:ext cx="713232" cy="713232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3076956"/>
            <a:ext cx="356616" cy="356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3703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เฝ้าดูตลอด 24 ชม. ไม่ไหว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68680" y="38176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พื้นที่กว้าง คนน้อย การสังเกตด้วยตาคนทำได้ไม่ทั่วถึงและไม่ต่อเนื่อง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61688" y="26060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3F9F5"/>
          </a:solidFill>
          <a:ln w="12700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61688" y="2606040"/>
            <a:ext cx="82296" cy="18745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3" name="Shape 10"/>
          <p:cNvSpPr/>
          <p:nvPr/>
        </p:nvSpPr>
        <p:spPr>
          <a:xfrm>
            <a:off x="4654296" y="2898648"/>
            <a:ext cx="713232" cy="713232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604" y="3076956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54296" y="3703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ตรวจพบช้า = เสียหาย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677156" y="37947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กว่าจะสังเกตเห็นอาการเหี่ยวหรือผิดปกติ ความเสียหายมักลุกลามไปแล้ว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74736" y="26060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3F9F5"/>
          </a:solidFill>
          <a:ln w="12700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74736" y="2606040"/>
            <a:ext cx="82296" cy="18745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Shape 15"/>
          <p:cNvSpPr/>
          <p:nvPr/>
        </p:nvSpPr>
        <p:spPr>
          <a:xfrm>
            <a:off x="8467344" y="2898648"/>
            <a:ext cx="713232" cy="713232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5652" y="3076956"/>
            <a:ext cx="356616" cy="3566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67344" y="3703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ขาดระบบช่วยตัดสินใจ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549640" y="37947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ดูแลด้วยประสบการณ์ ไม่มีข้อมูลเชิงภาพมาสนับสนุนการตัดสินใจ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4736592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B4332"/>
          </a:solidFill>
          <a:ln/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68680" y="5074920"/>
            <a:ext cx="749808" cy="749808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387" y="5243627"/>
            <a:ext cx="412394" cy="41239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874520" y="4956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แนวทางของโครงงาน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874520" y="5285232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4F2E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นำ Edge AI บน Coral Dev Board มาตรวจจับสภาพต้นไม้จากภาพแบบเรียลไทม์ ประมวลผลบนอุปกรณ์โดยตรงไม่ต้องพึ่งคลาวด์ พร้อมต่อยอดสู่ IoT เพื่อเฝ้าระวังและดูแลพืชอัตโนมัติ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1231575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02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Plant Vision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02</a:t>
            </a:r>
            <a:r>
              <a:rPr lang="en-US" sz="1200" b="1" kern="0" spc="2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 วัตถุประสงค์ของโครงงาน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 err="1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เป้าหมาย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AF5EE"/>
          </a:solidFill>
          <a:ln w="12700">
            <a:solidFill>
              <a:srgbClr val="DDE7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29384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508760" y="1901952"/>
            <a:ext cx="512064" cy="512064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76" y="202996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40280" y="185623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ลดภาระการเฝ้าดูแลต้นไม้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240280" y="2185416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ให้ระบบช่วยสังเกตสภาพพืชแทนคน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69748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3F9F5"/>
          </a:solidFill>
          <a:ln w="12700">
            <a:solidFill>
              <a:srgbClr val="DDE7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" y="2889504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1508760" y="2862072"/>
            <a:ext cx="512064" cy="512064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6776" y="299008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240280" y="281635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ตรวจจับและจำแนกสภาพต้นไม้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2240280" y="3145536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แยกสภาพ ปกติ (Normal) / เหี่ยว (Wither)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365760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AF5EE"/>
          </a:solidFill>
          <a:ln w="12700">
            <a:solidFill>
              <a:srgbClr val="DDE7E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4672" y="3849624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0" name="Text 16"/>
          <p:cNvSpPr/>
          <p:nvPr/>
        </p:nvSpPr>
        <p:spPr>
          <a:xfrm>
            <a:off x="804672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1508760" y="3822192"/>
            <a:ext cx="512064" cy="512064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6776" y="3950208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240280" y="37764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ทดลองใช้ Coral Dev Board Micro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2240280" y="4105656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ประมวลผล AI บน Edge TPU โดยตรงบนบอร์ด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548640" y="461772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3F9F5"/>
          </a:solidFill>
          <a:ln w="12700">
            <a:solidFill>
              <a:srgbClr val="DDE7E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04672" y="4809744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7" name="Text 22"/>
          <p:cNvSpPr/>
          <p:nvPr/>
        </p:nvSpPr>
        <p:spPr>
          <a:xfrm>
            <a:off x="804672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Shape 23"/>
          <p:cNvSpPr/>
          <p:nvPr/>
        </p:nvSpPr>
        <p:spPr>
          <a:xfrm>
            <a:off x="1508760" y="4782312"/>
            <a:ext cx="512064" cy="512064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6776" y="4910328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2240280" y="473659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แสดงผลแบบเรียลไทม์ผ่าน GUI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2240280" y="5065776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แสดง Bounding Box · Class · Confidence · FPS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548640" y="55778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AF5EE"/>
          </a:solidFill>
          <a:ln w="12700">
            <a:solidFill>
              <a:srgbClr val="DDE7E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04672" y="5769864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4" name="Text 28"/>
          <p:cNvSpPr/>
          <p:nvPr/>
        </p:nvSpPr>
        <p:spPr>
          <a:xfrm>
            <a:off x="804672" y="5769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</a:t>
            </a:r>
            <a:endParaRPr lang="en-US" sz="1700" dirty="0"/>
          </a:p>
        </p:txBody>
      </p:sp>
      <p:sp>
        <p:nvSpPr>
          <p:cNvPr id="35" name="Shape 29"/>
          <p:cNvSpPr/>
          <p:nvPr/>
        </p:nvSpPr>
        <p:spPr>
          <a:xfrm>
            <a:off x="1508760" y="5742432"/>
            <a:ext cx="512064" cy="512064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6776" y="5870448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2240280" y="569671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ส่งผลลัพธ์ผ่าน MQTT</a:t>
            </a:r>
            <a:endParaRPr lang="en-US" sz="1600" dirty="0"/>
          </a:p>
        </p:txBody>
      </p:sp>
      <p:sp>
        <p:nvSpPr>
          <p:cNvPr id="38" name="Text 31"/>
          <p:cNvSpPr/>
          <p:nvPr/>
        </p:nvSpPr>
        <p:spPr>
          <a:xfrm>
            <a:off x="2240280" y="6025896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เพื่อต่อยอดเชื่อมระบบ IoT และอุปกรณ์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11231575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03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Plant Vision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03</a:t>
            </a:r>
            <a:r>
              <a:rPr lang="en-US" sz="1200" b="1" kern="0" spc="2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 ขอบเขตของโครงงาน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ขอบเขตและข้อจำกัด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78355"/>
            <a:ext cx="3584448" cy="406908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5875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3584448" cy="914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0116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12140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783080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ด้านฮาร์ดแวร์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59536" y="3072384"/>
            <a:ext cx="128016" cy="128016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3040380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Coral Dev Board Micro + กล้อง onboard</a:t>
            </a:r>
            <a:endParaRPr lang="en-US" sz="1280" dirty="0"/>
          </a:p>
        </p:txBody>
      </p:sp>
      <p:sp>
        <p:nvSpPr>
          <p:cNvPr id="11" name="Shape 8"/>
          <p:cNvSpPr/>
          <p:nvPr/>
        </p:nvSpPr>
        <p:spPr>
          <a:xfrm>
            <a:off x="859536" y="3785616"/>
            <a:ext cx="128016" cy="128016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768852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ESP32 เป็นตัวควบคุม (WiFi)</a:t>
            </a:r>
            <a:endParaRPr lang="en-US" sz="1280" dirty="0"/>
          </a:p>
        </p:txBody>
      </p:sp>
      <p:sp>
        <p:nvSpPr>
          <p:cNvPr id="13" name="Shape 10"/>
          <p:cNvSpPr/>
          <p:nvPr/>
        </p:nvSpPr>
        <p:spPr>
          <a:xfrm>
            <a:off x="859536" y="4498848"/>
            <a:ext cx="128016" cy="128016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4467606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เซ็นเซอร์ ความชื้นดิน / อุณหภูมิ / แสง</a:t>
            </a:r>
            <a:endParaRPr lang="en-US" sz="1280" dirty="0"/>
          </a:p>
        </p:txBody>
      </p:sp>
      <p:sp>
        <p:nvSpPr>
          <p:cNvPr id="15" name="Shape 12"/>
          <p:cNvSpPr/>
          <p:nvPr/>
        </p:nvSpPr>
        <p:spPr>
          <a:xfrm>
            <a:off x="859536" y="5212080"/>
            <a:ext cx="128016" cy="128016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5202199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ปั๊มน้ำ + วาล์ว (ส่วนต่อยอด)</a:t>
            </a:r>
            <a:endParaRPr lang="en-US" sz="1280" dirty="0"/>
          </a:p>
        </p:txBody>
      </p:sp>
      <p:sp>
        <p:nvSpPr>
          <p:cNvPr id="17" name="Shape 14"/>
          <p:cNvSpPr/>
          <p:nvPr/>
        </p:nvSpPr>
        <p:spPr>
          <a:xfrm>
            <a:off x="4379976" y="1783080"/>
            <a:ext cx="3584448" cy="406908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5875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79976" y="1783080"/>
            <a:ext cx="3584448" cy="9144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9" name="Shape 16"/>
          <p:cNvSpPr/>
          <p:nvPr/>
        </p:nvSpPr>
        <p:spPr>
          <a:xfrm>
            <a:off x="4672584" y="20116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2121408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48656" y="1783080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ด้านซอฟต์แวร์ &amp; AI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4690872" y="3072384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3" name="Text 19"/>
          <p:cNvSpPr/>
          <p:nvPr/>
        </p:nvSpPr>
        <p:spPr>
          <a:xfrm>
            <a:off x="4928616" y="3040380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โมเดล Object Detection 2 คลาส</a:t>
            </a:r>
            <a:endParaRPr lang="en-US" sz="1280" dirty="0"/>
          </a:p>
        </p:txBody>
      </p:sp>
      <p:sp>
        <p:nvSpPr>
          <p:cNvPr id="24" name="Shape 20"/>
          <p:cNvSpPr/>
          <p:nvPr/>
        </p:nvSpPr>
        <p:spPr>
          <a:xfrm>
            <a:off x="4690872" y="3785616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5" name="Text 21"/>
          <p:cNvSpPr/>
          <p:nvPr/>
        </p:nvSpPr>
        <p:spPr>
          <a:xfrm>
            <a:off x="4928616" y="3750564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ตรวจจับ Normal / Wither บน Edge TPU</a:t>
            </a:r>
            <a:endParaRPr lang="en-US" sz="1280" dirty="0"/>
          </a:p>
        </p:txBody>
      </p:sp>
      <p:sp>
        <p:nvSpPr>
          <p:cNvPr id="26" name="Shape 22"/>
          <p:cNvSpPr/>
          <p:nvPr/>
        </p:nvSpPr>
        <p:spPr>
          <a:xfrm>
            <a:off x="4690872" y="4498848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7" name="Text 23"/>
          <p:cNvSpPr/>
          <p:nvPr/>
        </p:nvSpPr>
        <p:spPr>
          <a:xfrm>
            <a:off x="4928616" y="4463796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Python GUI แสดงผลแบบเรียลไทม์</a:t>
            </a:r>
            <a:endParaRPr lang="en-US" sz="1280" dirty="0"/>
          </a:p>
        </p:txBody>
      </p:sp>
      <p:sp>
        <p:nvSpPr>
          <p:cNvPr id="28" name="Shape 24"/>
          <p:cNvSpPr/>
          <p:nvPr/>
        </p:nvSpPr>
        <p:spPr>
          <a:xfrm>
            <a:off x="4690872" y="5212080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9" name="Text 25"/>
          <p:cNvSpPr/>
          <p:nvPr/>
        </p:nvSpPr>
        <p:spPr>
          <a:xfrm>
            <a:off x="4928616" y="5177028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สื่อสาร UART (JSON) + MQTT</a:t>
            </a:r>
            <a:endParaRPr lang="en-US" sz="1280" dirty="0"/>
          </a:p>
        </p:txBody>
      </p:sp>
      <p:sp>
        <p:nvSpPr>
          <p:cNvPr id="30" name="Shape 26"/>
          <p:cNvSpPr/>
          <p:nvPr/>
        </p:nvSpPr>
        <p:spPr>
          <a:xfrm>
            <a:off x="8211312" y="1783080"/>
            <a:ext cx="3584448" cy="406908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5875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211312" y="1783080"/>
            <a:ext cx="3584448" cy="9144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2" name="Shape 28"/>
          <p:cNvSpPr/>
          <p:nvPr/>
        </p:nvSpPr>
        <p:spPr>
          <a:xfrm>
            <a:off x="8503920" y="20116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48" y="2121408"/>
            <a:ext cx="237744" cy="23774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9079992" y="1783080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ด้านการใช้งาน &amp; ข้อจำกัด</a:t>
            </a:r>
            <a:endParaRPr lang="en-US" sz="1550" dirty="0"/>
          </a:p>
        </p:txBody>
      </p:sp>
      <p:sp>
        <p:nvSpPr>
          <p:cNvPr id="35" name="Shape 30"/>
          <p:cNvSpPr/>
          <p:nvPr/>
        </p:nvSpPr>
        <p:spPr>
          <a:xfrm>
            <a:off x="8522208" y="3072384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6" name="Text 31"/>
          <p:cNvSpPr/>
          <p:nvPr/>
        </p:nvSpPr>
        <p:spPr>
          <a:xfrm>
            <a:off x="8759952" y="3040380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ทดสอบกับต้นไม้ตัวอย่างในสภาพควบคุม</a:t>
            </a:r>
            <a:endParaRPr lang="en-US" sz="1280" dirty="0"/>
          </a:p>
        </p:txBody>
      </p:sp>
      <p:sp>
        <p:nvSpPr>
          <p:cNvPr id="37" name="Shape 32"/>
          <p:cNvSpPr/>
          <p:nvPr/>
        </p:nvSpPr>
        <p:spPr>
          <a:xfrm>
            <a:off x="8522208" y="3785616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8" name="Text 33"/>
          <p:cNvSpPr/>
          <p:nvPr/>
        </p:nvSpPr>
        <p:spPr>
          <a:xfrm>
            <a:off x="8759952" y="3750564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ความแม่นยำราว 60% โดยประมาณ</a:t>
            </a:r>
            <a:endParaRPr lang="en-US" sz="1280" dirty="0"/>
          </a:p>
        </p:txBody>
      </p:sp>
      <p:sp>
        <p:nvSpPr>
          <p:cNvPr id="39" name="Shape 34"/>
          <p:cNvSpPr/>
          <p:nvPr/>
        </p:nvSpPr>
        <p:spPr>
          <a:xfrm>
            <a:off x="8522208" y="4498848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0" name="Text 35"/>
          <p:cNvSpPr/>
          <p:nvPr/>
        </p:nvSpPr>
        <p:spPr>
          <a:xfrm>
            <a:off x="8774887" y="4451604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แสงและมุมกล้องมีผลต่อผลลัพธ์</a:t>
            </a:r>
            <a:endParaRPr lang="en-US" sz="1280" dirty="0"/>
          </a:p>
        </p:txBody>
      </p:sp>
      <p:sp>
        <p:nvSpPr>
          <p:cNvPr id="41" name="Shape 36"/>
          <p:cNvSpPr/>
          <p:nvPr/>
        </p:nvSpPr>
        <p:spPr>
          <a:xfrm>
            <a:off x="8522208" y="5212080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2" name="Text 37"/>
          <p:cNvSpPr/>
          <p:nvPr/>
        </p:nvSpPr>
        <p:spPr>
          <a:xfrm>
            <a:off x="8759952" y="5177028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ยังไม่วินิจฉัยโรคพืชเชิงลึก</a:t>
            </a:r>
            <a:endParaRPr lang="en-US" sz="1280" dirty="0"/>
          </a:p>
        </p:txBody>
      </p:sp>
      <p:sp>
        <p:nvSpPr>
          <p:cNvPr id="43" name="Text 38"/>
          <p:cNvSpPr/>
          <p:nvPr/>
        </p:nvSpPr>
        <p:spPr>
          <a:xfrm>
            <a:off x="11231575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04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Plant Vision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04</a:t>
            </a:r>
            <a:r>
              <a:rPr lang="en-US" sz="1200" b="1" kern="0" spc="2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 สถาปัตยกรรมระบบ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การทำงาน 3 ชั้น : Input → Processing → Output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INPUT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5074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OUTPUT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6916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359152" y="1879092"/>
            <a:ext cx="676656" cy="676656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316" y="2048256"/>
            <a:ext cx="338328" cy="3383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กล้อง (Coral onboard)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0" y="221284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ถ่ายภาพใบพืช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949440" y="16916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205472" y="1879092"/>
            <a:ext cx="676656" cy="676656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636" y="2048256"/>
            <a:ext cx="338328" cy="3383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4672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เซ็นเซอร์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046720" y="221284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ดิน · อุณหภูมิ · แสง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114800" y="2743200"/>
            <a:ext cx="0" cy="566928"/>
          </a:xfrm>
          <a:prstGeom prst="line">
            <a:avLst/>
          </a:prstGeom>
          <a:noFill/>
          <a:ln w="31750">
            <a:solidFill>
              <a:srgbClr val="52B788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961120" y="2743200"/>
            <a:ext cx="0" cy="566928"/>
          </a:xfrm>
          <a:prstGeom prst="line">
            <a:avLst/>
          </a:prstGeom>
          <a:noFill/>
          <a:ln w="31750">
            <a:solidFill>
              <a:srgbClr val="52B788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2103120" y="3310128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1B4332"/>
          </a:solidFill>
          <a:ln/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331720" y="3675888"/>
            <a:ext cx="713232" cy="713232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2896" y="3847064"/>
            <a:ext cx="370881" cy="37088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200400" y="34930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Coral Dev Board Micro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3200400" y="38221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Edge TPU · AI Inference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2331720" y="4358055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7E4C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วินิจฉัยสภาพ ปกติ / เหี่ยว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949440" y="3310128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143728"/>
          </a:solidFill>
          <a:ln/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178040" y="3675888"/>
            <a:ext cx="713232" cy="713232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9216" y="3847064"/>
            <a:ext cx="370881" cy="37088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046720" y="3493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ESP32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8046720" y="3822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A2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Controller · WiFi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7180400" y="4358055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7E4C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ตัดสินใจและสั่งงาน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6199632" y="4023360"/>
            <a:ext cx="676656" cy="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  <a:headEnd type="triangle"/>
            <a:tailEnd type="triangle"/>
          </a:ln>
        </p:spPr>
      </p:sp>
      <p:sp>
        <p:nvSpPr>
          <p:cNvPr id="32" name="Text 26"/>
          <p:cNvSpPr/>
          <p:nvPr/>
        </p:nvSpPr>
        <p:spPr>
          <a:xfrm>
            <a:off x="5989320" y="3611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E76F51"/>
                </a:solidFill>
                <a:latin typeface="Sarabun" pitchFamily="34" charset="0"/>
                <a:ea typeface="Sarabun" pitchFamily="34" charset="-122"/>
              </a:rPr>
              <a:t>Raspberrypi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897880" y="4370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JSON data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8961120" y="4727448"/>
            <a:ext cx="0" cy="502920"/>
          </a:xfrm>
          <a:prstGeom prst="line">
            <a:avLst/>
          </a:prstGeom>
          <a:noFill/>
          <a:ln w="31750">
            <a:solidFill>
              <a:srgbClr val="52B788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5943600" y="5230368"/>
            <a:ext cx="3017520" cy="0"/>
          </a:xfrm>
          <a:prstGeom prst="line">
            <a:avLst/>
          </a:prstGeom>
          <a:noFill/>
          <a:ln w="31750">
            <a:solidFill>
              <a:srgbClr val="52B788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5943600" y="5230368"/>
            <a:ext cx="0" cy="164592"/>
          </a:xfrm>
          <a:prstGeom prst="line">
            <a:avLst/>
          </a:prstGeom>
          <a:noFill/>
          <a:ln w="31750">
            <a:solidFill>
              <a:srgbClr val="52B788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4160520" y="544068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52B788"/>
          </a:solidFill>
          <a:ln/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4434840" y="565099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144" y="5797296"/>
            <a:ext cx="292608" cy="29260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166360" y="5596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Watering</a:t>
            </a:r>
            <a:endParaRPr lang="en-US" sz="1500" dirty="0"/>
          </a:p>
        </p:txBody>
      </p:sp>
      <p:sp>
        <p:nvSpPr>
          <p:cNvPr id="41" name="Text 34"/>
          <p:cNvSpPr/>
          <p:nvPr/>
        </p:nvSpPr>
        <p:spPr>
          <a:xfrm>
            <a:off x="5166360" y="59253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4372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ปั๊ม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8321040" y="544068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EAF5EE"/>
          </a:solidFill>
          <a:ln w="15875">
            <a:solidFill>
              <a:srgbClr val="52B788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8549640" y="5650992"/>
            <a:ext cx="585216" cy="585216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5944" y="5797296"/>
            <a:ext cx="292608" cy="29260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9281160" y="55961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MQTT → IoT</a:t>
            </a:r>
            <a:endParaRPr lang="en-US" sz="1400" dirty="0"/>
          </a:p>
        </p:txBody>
      </p:sp>
      <p:sp>
        <p:nvSpPr>
          <p:cNvPr id="46" name="Text 38"/>
          <p:cNvSpPr/>
          <p:nvPr/>
        </p:nvSpPr>
        <p:spPr>
          <a:xfrm>
            <a:off x="9281160" y="5925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ส่งข้อมูลขึ้นคลาวด์ / แจ้งเตือน</a:t>
            </a:r>
            <a:endParaRPr lang="en-US" sz="1050" dirty="0"/>
          </a:p>
        </p:txBody>
      </p:sp>
      <p:sp>
        <p:nvSpPr>
          <p:cNvPr id="47" name="Text 39"/>
          <p:cNvSpPr/>
          <p:nvPr/>
        </p:nvSpPr>
        <p:spPr>
          <a:xfrm>
            <a:off x="11231575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05</a:t>
            </a:r>
            <a:endParaRPr lang="en-US" sz="1100" dirty="0"/>
          </a:p>
        </p:txBody>
      </p:sp>
      <p:sp>
        <p:nvSpPr>
          <p:cNvPr id="48" name="Text 40"/>
          <p:cNvSpPr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Plant Vision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05</a:t>
            </a:r>
            <a:r>
              <a:rPr lang="en-US" sz="1200" b="1" kern="0" spc="2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 การเตรียมข้อมูล (Data Preparation)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เตรียมชุดข้อมูลภาพก่อนสอน AI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30352" y="1271827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คุณภาพและความหลากหลายของชุดข้อมูลส่งผลต่อความแม่นยำของโมเดลโดยตรง </a:t>
            </a:r>
            <a:r>
              <a:rPr lang="en-US" sz="1400" dirty="0" err="1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ขั้นตอนการเตรียมข้อมูลจึงสำคัญ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5028" y="180638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E4C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74367" y="1852727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เก็บภาพ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718257" y="19183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Collect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3650" y="463561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ถ่ายภาพใบพืชทั้งสภาพ ปกติ และ เหี่ยว </a:t>
            </a:r>
            <a:r>
              <a:rPr lang="en-US" sz="1200" dirty="0" err="1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หลายมุมและหลายสภาพแสง</a:t>
            </a:r>
            <a:r>
              <a:rPr lang="en-US" sz="120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</a:t>
            </a:r>
            <a:r>
              <a:rPr lang="th-TH" sz="120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จากต้นไม้จำลอง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91256" y="33604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483026" y="1801663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E4C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02</a:t>
            </a:r>
            <a:endParaRPr lang="en-US" sz="24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812" y="267462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55720" y="1856527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ติดป้ายกำกับ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4975860" y="1905377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Label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585805" y="4547927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ลากกรอบ Bounding Box และกำหนดคลาส Normal / Wither ให้ทุกภาพ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053328" y="33604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6395590" y="2182220"/>
            <a:ext cx="2697480" cy="2606040"/>
          </a:xfrm>
          <a:prstGeom prst="roundRect">
            <a:avLst>
              <a:gd name="adj" fmla="val 3509"/>
            </a:avLst>
          </a:prstGeom>
          <a:solidFill>
            <a:srgbClr val="F3F9F5"/>
          </a:solidFill>
          <a:ln w="12700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6608171" y="233851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E4C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Shape 19"/>
          <p:cNvSpPr/>
          <p:nvPr/>
        </p:nvSpPr>
        <p:spPr>
          <a:xfrm>
            <a:off x="8372512" y="2283353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32" y="2444986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624190" y="2704861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550" b="1" dirty="0" err="1">
                <a:solidFill>
                  <a:srgbClr val="1B4332"/>
                </a:solidFill>
                <a:latin typeface="Sarabun" pitchFamily="34" charset="0"/>
                <a:ea typeface="Sarabun" pitchFamily="34" charset="-122"/>
              </a:rPr>
              <a:t>เทรน</a:t>
            </a:r>
            <a:r>
              <a:rPr lang="th-TH" sz="155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</a:rPr>
              <a:t>โมเดล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6624190" y="300921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Strain model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602855" y="5440909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7" name="Shape 31"/>
          <p:cNvSpPr/>
          <p:nvPr/>
        </p:nvSpPr>
        <p:spPr>
          <a:xfrm>
            <a:off x="822960" y="5627653"/>
            <a:ext cx="530352" cy="530352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899" y="5746982"/>
            <a:ext cx="291694" cy="29169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453247" y="549097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จำนวน 2 คลาส : </a:t>
            </a:r>
            <a:r>
              <a:rPr lang="en-US" sz="1350" dirty="0">
                <a:solidFill>
                  <a:srgbClr val="E4F2E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ปกติ (Normal) และ เหี่ยว (Wither) — ยิ่งภาพหลากหลายและสมดุลระหว่างคลาส โมเดลยิ่งแม่นยำขึ้น</a:t>
            </a:r>
            <a:endParaRPr lang="en-US" sz="1350" dirty="0"/>
          </a:p>
        </p:txBody>
      </p:sp>
      <p:sp>
        <p:nvSpPr>
          <p:cNvPr id="40" name="Text 33"/>
          <p:cNvSpPr/>
          <p:nvPr/>
        </p:nvSpPr>
        <p:spPr>
          <a:xfrm>
            <a:off x="11231575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06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Plant Vision</a:t>
            </a:r>
            <a:endParaRPr lang="en-US" sz="10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9938B742-6B9F-F792-18DA-813E9BD891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855" y="3462120"/>
            <a:ext cx="1261872" cy="1261872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E4D4F998-7B28-197E-8E49-4DC17554DD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028" y="2192628"/>
            <a:ext cx="1269492" cy="1269492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1AA3254D-E8D0-865D-4466-836DA6E4C4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6086" y="3419846"/>
            <a:ext cx="1303020" cy="130302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D7315CD9-B18E-D09F-A434-8E6DC7E86B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4368" y="2184212"/>
            <a:ext cx="1269492" cy="1269492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81651BB-9CD1-B8C7-FA2B-B48159CF192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61535" y="2184212"/>
            <a:ext cx="1269492" cy="1269492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93D0187E-0ACF-458E-794C-FED871A34BF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55106" y="3435293"/>
            <a:ext cx="1287574" cy="1287574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1B4A2F71-5EF0-79D1-0304-91F5871E44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17489" y="2180632"/>
            <a:ext cx="1267897" cy="1269492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68212A3F-C266-A2B7-7EF2-E0383667ADC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12390" y="3435293"/>
            <a:ext cx="1269089" cy="1265912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A2921E6-F0D3-A7F2-16DD-F14DE9A13CE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89305" y="3369323"/>
            <a:ext cx="3977790" cy="14704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06</a:t>
            </a:r>
            <a:r>
              <a:rPr lang="en-US" sz="1200" b="1" kern="0" spc="2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 การเตรียมและเทรนโมเดล (Model Training)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Pipeline : Data → Train → Edge TPU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5875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212140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Shape 4"/>
          <p:cNvSpPr/>
          <p:nvPr/>
        </p:nvSpPr>
        <p:spPr>
          <a:xfrm>
            <a:off x="1335024" y="2148840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1335024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98448" y="2834640"/>
            <a:ext cx="621792" cy="621792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678" y="2983870"/>
            <a:ext cx="323332" cy="3233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35387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เลือกโมเดล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383133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MODEL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76656" y="408736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3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เลือกสถาปัตยกรรม Object Detection แบบเบา เหมาะกับงาน Edge</a:t>
            </a:r>
            <a:endParaRPr lang="en-US" sz="1030" dirty="0"/>
          </a:p>
        </p:txBody>
      </p:sp>
      <p:sp>
        <p:nvSpPr>
          <p:cNvPr id="13" name="Text 10"/>
          <p:cNvSpPr/>
          <p:nvPr/>
        </p:nvSpPr>
        <p:spPr>
          <a:xfrm>
            <a:off x="2651760" y="29718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2816352" y="187452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5875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816352" y="1874520"/>
            <a:ext cx="212140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6" name="Shape 13"/>
          <p:cNvSpPr/>
          <p:nvPr/>
        </p:nvSpPr>
        <p:spPr>
          <a:xfrm>
            <a:off x="3602736" y="2148840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7" name="Text 14"/>
          <p:cNvSpPr/>
          <p:nvPr/>
        </p:nvSpPr>
        <p:spPr>
          <a:xfrm>
            <a:off x="3602736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3566160" y="2834640"/>
            <a:ext cx="621792" cy="621792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5390" y="2983870"/>
            <a:ext cx="323332" cy="3233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926080" y="35387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เทรนโมเดล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2926080" y="383133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TRAIN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2944368" y="408736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3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Transfer Learning บน TensorFlow ประหยัดข้อมูลและเวลา</a:t>
            </a:r>
            <a:endParaRPr lang="en-US" sz="1030" dirty="0"/>
          </a:p>
        </p:txBody>
      </p:sp>
      <p:sp>
        <p:nvSpPr>
          <p:cNvPr id="23" name="Text 19"/>
          <p:cNvSpPr/>
          <p:nvPr/>
        </p:nvSpPr>
        <p:spPr>
          <a:xfrm>
            <a:off x="4919472" y="29718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›</a:t>
            </a:r>
            <a:endParaRPr lang="en-US" sz="2600" dirty="0"/>
          </a:p>
        </p:txBody>
      </p:sp>
      <p:sp>
        <p:nvSpPr>
          <p:cNvPr id="24" name="Shape 20"/>
          <p:cNvSpPr/>
          <p:nvPr/>
        </p:nvSpPr>
        <p:spPr>
          <a:xfrm>
            <a:off x="5084064" y="187452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5875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084064" y="1874520"/>
            <a:ext cx="212140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6" name="Shape 22"/>
          <p:cNvSpPr/>
          <p:nvPr/>
        </p:nvSpPr>
        <p:spPr>
          <a:xfrm>
            <a:off x="5870448" y="2148840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7" name="Text 23"/>
          <p:cNvSpPr/>
          <p:nvPr/>
        </p:nvSpPr>
        <p:spPr>
          <a:xfrm>
            <a:off x="5870448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Shape 24"/>
          <p:cNvSpPr/>
          <p:nvPr/>
        </p:nvSpPr>
        <p:spPr>
          <a:xfrm>
            <a:off x="5833872" y="2834640"/>
            <a:ext cx="621792" cy="621792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3102" y="2983870"/>
            <a:ext cx="323332" cy="32333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193792" y="35387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บีบโมเดล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5193792" y="383133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QUANTIZE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5212080" y="408736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3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แปลงเป็น TensorFlow Lite + INT8 ลดขนาด เพิ่มความเร็ว</a:t>
            </a:r>
            <a:endParaRPr lang="en-US" sz="1030" dirty="0"/>
          </a:p>
        </p:txBody>
      </p:sp>
      <p:sp>
        <p:nvSpPr>
          <p:cNvPr id="33" name="Text 28"/>
          <p:cNvSpPr/>
          <p:nvPr/>
        </p:nvSpPr>
        <p:spPr>
          <a:xfrm>
            <a:off x="7187184" y="29718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›</a:t>
            </a:r>
            <a:endParaRPr lang="en-US" sz="2600" dirty="0"/>
          </a:p>
        </p:txBody>
      </p:sp>
      <p:sp>
        <p:nvSpPr>
          <p:cNvPr id="34" name="Shape 29"/>
          <p:cNvSpPr/>
          <p:nvPr/>
        </p:nvSpPr>
        <p:spPr>
          <a:xfrm>
            <a:off x="7351776" y="187452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5875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7351776" y="1874520"/>
            <a:ext cx="212140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6" name="Shape 31"/>
          <p:cNvSpPr/>
          <p:nvPr/>
        </p:nvSpPr>
        <p:spPr>
          <a:xfrm>
            <a:off x="8138160" y="2148840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7" name="Text 32"/>
          <p:cNvSpPr/>
          <p:nvPr/>
        </p:nvSpPr>
        <p:spPr>
          <a:xfrm>
            <a:off x="81381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</a:t>
            </a:r>
            <a:endParaRPr lang="en-US" sz="2000" dirty="0"/>
          </a:p>
        </p:txBody>
      </p:sp>
      <p:sp>
        <p:nvSpPr>
          <p:cNvPr id="38" name="Shape 33"/>
          <p:cNvSpPr/>
          <p:nvPr/>
        </p:nvSpPr>
        <p:spPr>
          <a:xfrm>
            <a:off x="8101584" y="2834640"/>
            <a:ext cx="621792" cy="621792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0814" y="2983870"/>
            <a:ext cx="323332" cy="323332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461504" y="35387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คอมไพล์</a:t>
            </a:r>
            <a:endParaRPr lang="en-US" sz="1400" dirty="0"/>
          </a:p>
        </p:txBody>
      </p:sp>
      <p:sp>
        <p:nvSpPr>
          <p:cNvPr id="41" name="Text 35"/>
          <p:cNvSpPr/>
          <p:nvPr/>
        </p:nvSpPr>
        <p:spPr>
          <a:xfrm>
            <a:off x="7461504" y="383133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COMPILE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7479792" y="408736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3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edgetpu_compiler สร้างไฟล์ .tflite สำหรับ Edge TPU</a:t>
            </a:r>
            <a:endParaRPr lang="en-US" sz="1030" dirty="0"/>
          </a:p>
        </p:txBody>
      </p:sp>
      <p:sp>
        <p:nvSpPr>
          <p:cNvPr id="43" name="Text 37"/>
          <p:cNvSpPr/>
          <p:nvPr/>
        </p:nvSpPr>
        <p:spPr>
          <a:xfrm>
            <a:off x="9454896" y="29718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›</a:t>
            </a:r>
            <a:endParaRPr lang="en-US" sz="2600" dirty="0"/>
          </a:p>
        </p:txBody>
      </p:sp>
      <p:sp>
        <p:nvSpPr>
          <p:cNvPr id="44" name="Shape 38"/>
          <p:cNvSpPr/>
          <p:nvPr/>
        </p:nvSpPr>
        <p:spPr>
          <a:xfrm>
            <a:off x="9619488" y="187452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5875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9619488" y="1874520"/>
            <a:ext cx="212140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6" name="Shape 40"/>
          <p:cNvSpPr/>
          <p:nvPr/>
        </p:nvSpPr>
        <p:spPr>
          <a:xfrm>
            <a:off x="10405872" y="2148840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7" name="Text 41"/>
          <p:cNvSpPr/>
          <p:nvPr/>
        </p:nvSpPr>
        <p:spPr>
          <a:xfrm>
            <a:off x="10405872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</a:t>
            </a:r>
            <a:endParaRPr lang="en-US" sz="2000" dirty="0"/>
          </a:p>
        </p:txBody>
      </p:sp>
      <p:sp>
        <p:nvSpPr>
          <p:cNvPr id="48" name="Shape 42"/>
          <p:cNvSpPr/>
          <p:nvPr/>
        </p:nvSpPr>
        <p:spPr>
          <a:xfrm>
            <a:off x="10369296" y="2834640"/>
            <a:ext cx="621792" cy="621792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8526" y="2983870"/>
            <a:ext cx="323332" cy="323332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9729216" y="35387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นำไปใช้งาน</a:t>
            </a:r>
            <a:endParaRPr lang="en-US" sz="1400" dirty="0"/>
          </a:p>
        </p:txBody>
      </p:sp>
      <p:sp>
        <p:nvSpPr>
          <p:cNvPr id="51" name="Text 44"/>
          <p:cNvSpPr/>
          <p:nvPr/>
        </p:nvSpPr>
        <p:spPr>
          <a:xfrm>
            <a:off x="9729216" y="383133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DEPLOY</a:t>
            </a:r>
            <a:endParaRPr lang="en-US" sz="950" dirty="0"/>
          </a:p>
        </p:txBody>
      </p:sp>
      <p:sp>
        <p:nvSpPr>
          <p:cNvPr id="52" name="Text 45"/>
          <p:cNvSpPr/>
          <p:nvPr/>
        </p:nvSpPr>
        <p:spPr>
          <a:xfrm>
            <a:off x="9747504" y="408736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3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รัน Inference บน Coral ได้ ~10 FPS โดยไม่ต้องต่อเน็ต</a:t>
            </a:r>
            <a:endParaRPr lang="en-US" sz="1030" dirty="0"/>
          </a:p>
        </p:txBody>
      </p:sp>
      <p:sp>
        <p:nvSpPr>
          <p:cNvPr id="53" name="Shape 46"/>
          <p:cNvSpPr/>
          <p:nvPr/>
        </p:nvSpPr>
        <p:spPr>
          <a:xfrm>
            <a:off x="548640" y="49377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B4332"/>
          </a:solidFill>
          <a:ln/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54" name="Shape 47"/>
          <p:cNvSpPr/>
          <p:nvPr/>
        </p:nvSpPr>
        <p:spPr>
          <a:xfrm>
            <a:off x="841248" y="5138928"/>
            <a:ext cx="566928" cy="566928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8807" y="5266487"/>
            <a:ext cx="311810" cy="311810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1554480" y="4937760"/>
            <a:ext cx="9921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ผลลัพธ์ : </a:t>
            </a:r>
            <a:r>
              <a:rPr lang="en-US" sz="1350" dirty="0">
                <a:solidFill>
                  <a:srgbClr val="E4F2E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ได้โมเดลขนาดเล็กที่รันบน Edge TPU ของ Coral ได้แบบเรียลไทม์ที่ ~10 FPS  จำแนกสภาพ ปกติ / เหี่ยว ได้บนอุปกรณ์โดยตรง ไม่ต้องพึ่งคลาวด์</a:t>
            </a:r>
            <a:endParaRPr lang="en-US" sz="1350" dirty="0"/>
          </a:p>
        </p:txBody>
      </p:sp>
      <p:sp>
        <p:nvSpPr>
          <p:cNvPr id="57" name="Text 49"/>
          <p:cNvSpPr/>
          <p:nvPr/>
        </p:nvSpPr>
        <p:spPr>
          <a:xfrm>
            <a:off x="11231575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07</a:t>
            </a:r>
            <a:endParaRPr lang="en-US" sz="1100" dirty="0"/>
          </a:p>
        </p:txBody>
      </p:sp>
      <p:sp>
        <p:nvSpPr>
          <p:cNvPr id="58" name="Text 50"/>
          <p:cNvSpPr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Plant Vision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07</a:t>
            </a:r>
            <a:r>
              <a:rPr lang="en-US" sz="1200" b="1" kern="0" spc="2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 ผลการทดสอบ (Results)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ระบบตรวจจับได้แบบเรียลไทม์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3F9F5"/>
          </a:solidFill>
          <a:ln w="12700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75688"/>
            <a:ext cx="566928" cy="56692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2217420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476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6A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~60%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ความแม่นยำรวม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78308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3F9F5"/>
          </a:solidFill>
          <a:ln w="12700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85032" y="2075688"/>
            <a:ext cx="566928" cy="566928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764" y="2217420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25112" y="19476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~10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3685032" y="2743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FPS โดยประมาณ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72784" y="178308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3F9F5"/>
          </a:solidFill>
          <a:ln w="12700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47104" y="2075688"/>
            <a:ext cx="566928" cy="566928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836" y="2217420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87184" y="19476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A2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6547104" y="2743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จำนวนคลาส (ปกติ/เหี่ยว)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34856" y="178308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3F9F5"/>
          </a:solidFill>
          <a:ln w="12700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409176" y="2075688"/>
            <a:ext cx="566928" cy="566928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0908" y="2217420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49256" y="19476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6F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MQTT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9409176" y="2743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ช่องทาง Output → IoT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352044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48640" y="3520440"/>
            <a:ext cx="109728" cy="17830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6" name="Shape 20"/>
          <p:cNvSpPr/>
          <p:nvPr/>
        </p:nvSpPr>
        <p:spPr>
          <a:xfrm>
            <a:off x="914400" y="3904488"/>
            <a:ext cx="777240" cy="77724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710" y="4098798"/>
            <a:ext cx="388620" cy="3886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920240" y="37947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ตรวจจับสภาพปกติ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1920240" y="41788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ผลการตรวจจับ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1920240" y="44165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6A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NORMAL</a:t>
            </a:r>
            <a:endParaRPr lang="en-US" sz="3000" dirty="0"/>
          </a:p>
        </p:txBody>
      </p:sp>
      <p:sp>
        <p:nvSpPr>
          <p:cNvPr id="31" name="Text 24"/>
          <p:cNvSpPr/>
          <p:nvPr/>
        </p:nvSpPr>
        <p:spPr>
          <a:xfrm>
            <a:off x="4297680" y="4389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2D6A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66%
</a:t>
            </a:r>
            <a:r>
              <a:rPr lang="en-US" sz="105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ความน่าจะเป็น</a:t>
            </a:r>
            <a:endParaRPr lang="en-US" sz="2600" dirty="0"/>
          </a:p>
        </p:txBody>
      </p:sp>
      <p:sp>
        <p:nvSpPr>
          <p:cNvPr id="32" name="Shape 25"/>
          <p:cNvSpPr/>
          <p:nvPr/>
        </p:nvSpPr>
        <p:spPr>
          <a:xfrm>
            <a:off x="6172200" y="352044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E76F51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172200" y="3520440"/>
            <a:ext cx="109728" cy="17830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4" name="Shape 27"/>
          <p:cNvSpPr/>
          <p:nvPr/>
        </p:nvSpPr>
        <p:spPr>
          <a:xfrm>
            <a:off x="6537960" y="3904488"/>
            <a:ext cx="777240" cy="77724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2270" y="4098798"/>
            <a:ext cx="388620" cy="3886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543800" y="37947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ตรวจจับสภาพเหี่ยว</a:t>
            </a:r>
            <a:endParaRPr lang="en-US" sz="1450" dirty="0"/>
          </a:p>
        </p:txBody>
      </p:sp>
      <p:sp>
        <p:nvSpPr>
          <p:cNvPr id="37" name="Text 29"/>
          <p:cNvSpPr/>
          <p:nvPr/>
        </p:nvSpPr>
        <p:spPr>
          <a:xfrm>
            <a:off x="7543800" y="41788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ผลการตรวจจับ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7543800" y="44165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6F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WITHER</a:t>
            </a:r>
            <a:endParaRPr lang="en-US" sz="3000" dirty="0"/>
          </a:p>
        </p:txBody>
      </p:sp>
      <p:sp>
        <p:nvSpPr>
          <p:cNvPr id="39" name="Text 31"/>
          <p:cNvSpPr/>
          <p:nvPr/>
        </p:nvSpPr>
        <p:spPr>
          <a:xfrm>
            <a:off x="9921240" y="4389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76F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52%
</a:t>
            </a:r>
            <a:r>
              <a:rPr lang="en-US" sz="105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ความน่าจะเป็น</a:t>
            </a:r>
            <a:endParaRPr lang="en-US" sz="2600" dirty="0"/>
          </a:p>
        </p:txBody>
      </p:sp>
      <p:sp>
        <p:nvSpPr>
          <p:cNvPr id="40" name="Shape 32"/>
          <p:cNvSpPr/>
          <p:nvPr/>
        </p:nvSpPr>
        <p:spPr>
          <a:xfrm>
            <a:off x="548640" y="543153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EAF5EE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804672" y="5550408"/>
            <a:ext cx="475488" cy="47548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789" y="5664525"/>
            <a:ext cx="247254" cy="24725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417320" y="5431536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GUI แบบ Python แสดงผลเรียลไทม์ พร้อม Bounding Box · Class · Confidence · FPS และส่งผลต่อผ่าน MQTT เพื่อต่อยอด IoT</a:t>
            </a:r>
            <a:endParaRPr lang="en-US" sz="1300" dirty="0"/>
          </a:p>
        </p:txBody>
      </p:sp>
      <p:sp>
        <p:nvSpPr>
          <p:cNvPr id="44" name="Text 35"/>
          <p:cNvSpPr/>
          <p:nvPr/>
        </p:nvSpPr>
        <p:spPr>
          <a:xfrm>
            <a:off x="11231575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08</a:t>
            </a:r>
            <a:endParaRPr lang="en-US" sz="1100" dirty="0"/>
          </a:p>
        </p:txBody>
      </p:sp>
      <p:sp>
        <p:nvSpPr>
          <p:cNvPr id="45" name="Text 36"/>
          <p:cNvSpPr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Plant Vision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08</a:t>
            </a:r>
            <a:r>
              <a:rPr lang="en-US" sz="1200" b="1" kern="0" spc="2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 ปัญหาที่พบและแนวทางแก้ไข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ปัญหา → แนวทางพัฒนา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5875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09728" cy="120700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75688"/>
            <a:ext cx="621792" cy="621792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23113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9842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76F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ปัญหาที่พบ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691640" y="22585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Confidence ยังไม่สูงมากในบางภาพ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897880" y="1783080"/>
            <a:ext cx="5486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6583680" y="2075688"/>
            <a:ext cx="621792" cy="621792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223113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19842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แนวทางพัฒนา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406640" y="225856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เพิ่มและปรับปรุงชุดข้อมูลให้หลากหลายและสมดุลมากขึ้น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3191256"/>
            <a:ext cx="1106424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5875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3191256"/>
            <a:ext cx="109728" cy="120700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7" name="Shape 13"/>
          <p:cNvSpPr/>
          <p:nvPr/>
        </p:nvSpPr>
        <p:spPr>
          <a:xfrm>
            <a:off x="868680" y="3483864"/>
            <a:ext cx="621792" cy="621792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63931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33924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76F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ปัญหาที่พบ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691640" y="366674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แสงและมุมกล้องมีผลต่อการตรวจจับ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897880" y="3191256"/>
            <a:ext cx="5486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6583680" y="3483864"/>
            <a:ext cx="621792" cy="621792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363931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06640" y="33924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แนวทางพัฒนา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406640" y="366674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ควบคุมสภาพแสง และเพิ่ม Data Augmentation ให้ครอบคลุม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548640" y="4599432"/>
            <a:ext cx="1106424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5875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48640" y="4599432"/>
            <a:ext cx="109728" cy="120700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8" name="Shape 22"/>
          <p:cNvSpPr/>
          <p:nvPr/>
        </p:nvSpPr>
        <p:spPr>
          <a:xfrm>
            <a:off x="868680" y="4892040"/>
            <a:ext cx="621792" cy="621792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5047488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691640" y="4800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76F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ปัญหาที่พบ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1691640" y="50749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กรอบ Bounding Box ยังสั่นไม่นิ่ง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5897880" y="4599432"/>
            <a:ext cx="5486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→</a:t>
            </a:r>
            <a:endParaRPr lang="en-US" sz="2600" dirty="0"/>
          </a:p>
        </p:txBody>
      </p:sp>
      <p:sp>
        <p:nvSpPr>
          <p:cNvPr id="33" name="Shape 26"/>
          <p:cNvSpPr/>
          <p:nvPr/>
        </p:nvSpPr>
        <p:spPr>
          <a:xfrm>
            <a:off x="6583680" y="4892040"/>
            <a:ext cx="621792" cy="621792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9128" y="5047488"/>
            <a:ext cx="310896" cy="31089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406640" y="48006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แนวทางพัฒนา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7406640" y="50749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เพิ่ม Object Tracking เพื่อให้กรอบเสถียรและต่อเนื่องขึ้น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11231575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09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Plant Vision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09</a:t>
            </a:r>
            <a:r>
              <a:rPr lang="en-US" sz="1200" b="1" kern="0" spc="2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 การพัฒนาในอนาคต (Future Work)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ต่อยอดสู่ระบบดูแลพืชอัตโนมัติเต็มรูปแบบ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EAF5EE"/>
          </a:solidFill>
          <a:ln w="12700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1945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1945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94460" y="2834640"/>
            <a:ext cx="1005840" cy="100584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0861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977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ขยายชุดข้อมูล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44074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เพิ่ม Dataset ให้หลากหลายและครอบคลุมพืชหลายชนิด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10712" y="192024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3F9F5"/>
          </a:solidFill>
          <a:ln w="12700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0" y="21945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0" y="21945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PHASE 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56532" y="2834640"/>
            <a:ext cx="1005840" cy="100584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308610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93592" y="3977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เชื่อมต่อเซ็นเซอร์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639312" y="44074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ต่อเซ็นเซอร์ความชื้นในดินเพื่อช่วยตัดสินใจ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72784" y="192024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EAF5EE"/>
          </a:solidFill>
          <a:ln w="12700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519672" y="21945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/>
        </p:spPr>
      </p:sp>
      <p:sp>
        <p:nvSpPr>
          <p:cNvPr id="20" name="Text 16"/>
          <p:cNvSpPr/>
          <p:nvPr/>
        </p:nvSpPr>
        <p:spPr>
          <a:xfrm>
            <a:off x="6519672" y="21945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PHASE 3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118604" y="2834640"/>
            <a:ext cx="1005840" cy="100584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308610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55664" y="3977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เพิ่ม Dashboard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501384" y="44074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แสดงและบันทึกประวัติการตรวจจับย้อนหลัง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9134856" y="192024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3F9F5"/>
          </a:solidFill>
          <a:ln w="12700">
            <a:solidFill>
              <a:srgbClr val="DDE7E0"/>
            </a:solidFill>
            <a:prstDash val="solid"/>
          </a:ln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381744" y="21945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/>
        </p:spPr>
      </p:sp>
      <p:sp>
        <p:nvSpPr>
          <p:cNvPr id="27" name="Text 22"/>
          <p:cNvSpPr/>
          <p:nvPr/>
        </p:nvSpPr>
        <p:spPr>
          <a:xfrm>
            <a:off x="9381744" y="21945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PHASE 4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9980676" y="2834640"/>
            <a:ext cx="1005840" cy="100584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2136" y="3086100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317736" y="3977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ระบบรดน้ำอัตโนมัติ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9363456" y="44074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ต่อยอดปั๊มน้ำและแจ้งเตือนผ่าน MQTT อัตโนมัติ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1231575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Plant Vision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</a:t>
            </a:r>
            <a:r>
              <a:rPr lang="en-US" sz="1200" b="1" kern="0" spc="2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 สรุป (Conclusion)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Plant Vision : ต้นแบบ Embedded AI สำหรับพืช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858000" cy="4160520"/>
          </a:xfrm>
          <a:prstGeom prst="roundRect">
            <a:avLst>
              <a:gd name="adj" fmla="val 2198"/>
            </a:avLst>
          </a:prstGeom>
          <a:solidFill>
            <a:srgbClr val="1B4332"/>
          </a:solidFill>
          <a:ln/>
          <a:effectLst>
            <a:outerShdw blurRad="114300" dist="38100" dir="5400000" algn="bl" rotWithShape="0">
              <a:srgbClr val="1B433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777240" cy="77724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59" y="227799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1284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ภาพรวมของโครงงาน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18211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73048" y="3204972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4F2E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ตรวจจับและจำแนกสภาพต้นไม้ ปกติ / เหี่ยว ด้วย Edge AI บน Coral Dev Board Micro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87705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899916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4F2E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แสดงผลแบบเรียลไทม์ผ่าน Python GUI พร้อม Bounding Box · Class · Confidence · FPS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572000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4592828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4F2E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ผล Detect โดยรวมอยู่ที่ประมาณ 60% ที่ความเร็ว ~10 FPS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266944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80160" y="5287264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4F2E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ส่งผลผ่าน MQTT พร้อมต่อยอดเป็นระบบแจ้งเตือนและรดน้ำอัตโนมัติในอนาคต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7726680" y="1828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Key Technologies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7726680" y="2377440"/>
            <a:ext cx="1938528" cy="1078992"/>
          </a:xfrm>
          <a:prstGeom prst="roundRect">
            <a:avLst>
              <a:gd name="adj" fmla="val 8475"/>
            </a:avLst>
          </a:prstGeom>
          <a:solidFill>
            <a:srgbClr val="F3F9F5"/>
          </a:solidFill>
          <a:ln w="12700">
            <a:solidFill>
              <a:srgbClr val="DDE7E0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8403336" y="2542032"/>
            <a:ext cx="585216" cy="585216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2688336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772400" y="312724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AI / Edge TPU</a:t>
            </a:r>
            <a:endParaRPr lang="en-US" sz="1150" dirty="0"/>
          </a:p>
        </p:txBody>
      </p:sp>
      <p:sp>
        <p:nvSpPr>
          <p:cNvPr id="21" name="Shape 13"/>
          <p:cNvSpPr/>
          <p:nvPr/>
        </p:nvSpPr>
        <p:spPr>
          <a:xfrm>
            <a:off x="9829800" y="2377440"/>
            <a:ext cx="1938528" cy="1078992"/>
          </a:xfrm>
          <a:prstGeom prst="roundRect">
            <a:avLst>
              <a:gd name="adj" fmla="val 8475"/>
            </a:avLst>
          </a:prstGeom>
          <a:solidFill>
            <a:srgbClr val="F3F9F5"/>
          </a:solidFill>
          <a:ln w="12700">
            <a:solidFill>
              <a:srgbClr val="DDE7E0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10506456" y="2542032"/>
            <a:ext cx="585216" cy="585216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2760" y="2688336"/>
            <a:ext cx="292608" cy="29260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875520" y="312724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Python</a:t>
            </a:r>
            <a:endParaRPr lang="en-US" sz="1150" dirty="0"/>
          </a:p>
        </p:txBody>
      </p:sp>
      <p:sp>
        <p:nvSpPr>
          <p:cNvPr id="25" name="Shape 16"/>
          <p:cNvSpPr/>
          <p:nvPr/>
        </p:nvSpPr>
        <p:spPr>
          <a:xfrm>
            <a:off x="7726680" y="3621024"/>
            <a:ext cx="1938528" cy="1078992"/>
          </a:xfrm>
          <a:prstGeom prst="roundRect">
            <a:avLst>
              <a:gd name="adj" fmla="val 8475"/>
            </a:avLst>
          </a:prstGeom>
          <a:solidFill>
            <a:srgbClr val="F3F9F5"/>
          </a:solidFill>
          <a:ln w="12700">
            <a:solidFill>
              <a:srgbClr val="DDE7E0"/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8403336" y="3785616"/>
            <a:ext cx="585216" cy="585216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9640" y="3931920"/>
            <a:ext cx="292608" cy="29260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772400" y="437083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MQTT</a:t>
            </a:r>
            <a:endParaRPr lang="en-US" sz="1150" dirty="0"/>
          </a:p>
        </p:txBody>
      </p:sp>
      <p:sp>
        <p:nvSpPr>
          <p:cNvPr id="29" name="Shape 19"/>
          <p:cNvSpPr/>
          <p:nvPr/>
        </p:nvSpPr>
        <p:spPr>
          <a:xfrm>
            <a:off x="9829800" y="3621024"/>
            <a:ext cx="1938528" cy="1078992"/>
          </a:xfrm>
          <a:prstGeom prst="roundRect">
            <a:avLst>
              <a:gd name="adj" fmla="val 8475"/>
            </a:avLst>
          </a:prstGeom>
          <a:solidFill>
            <a:srgbClr val="F3F9F5"/>
          </a:solidFill>
          <a:ln w="12700">
            <a:solidFill>
              <a:srgbClr val="DDE7E0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10506456" y="3785616"/>
            <a:ext cx="585216" cy="585216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2760" y="3931920"/>
            <a:ext cx="292608" cy="29260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875520" y="437083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ESP32</a:t>
            </a:r>
            <a:endParaRPr lang="en-US" sz="1150" dirty="0"/>
          </a:p>
        </p:txBody>
      </p:sp>
      <p:sp>
        <p:nvSpPr>
          <p:cNvPr id="33" name="Shape 22"/>
          <p:cNvSpPr/>
          <p:nvPr/>
        </p:nvSpPr>
        <p:spPr>
          <a:xfrm>
            <a:off x="7726680" y="4864608"/>
            <a:ext cx="1938528" cy="1078992"/>
          </a:xfrm>
          <a:prstGeom prst="roundRect">
            <a:avLst>
              <a:gd name="adj" fmla="val 8475"/>
            </a:avLst>
          </a:prstGeom>
          <a:solidFill>
            <a:srgbClr val="F3F9F5"/>
          </a:solidFill>
          <a:ln w="12700">
            <a:solidFill>
              <a:srgbClr val="DDE7E0"/>
            </a:solidFill>
            <a:prstDash val="solid"/>
          </a:ln>
        </p:spPr>
      </p:sp>
      <p:sp>
        <p:nvSpPr>
          <p:cNvPr id="34" name="Shape 23"/>
          <p:cNvSpPr/>
          <p:nvPr/>
        </p:nvSpPr>
        <p:spPr>
          <a:xfrm>
            <a:off x="8403336" y="5029200"/>
            <a:ext cx="585216" cy="585216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9640" y="5175504"/>
            <a:ext cx="292608" cy="29260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772400" y="561441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Sensors</a:t>
            </a:r>
            <a:endParaRPr lang="en-US" sz="1150" dirty="0"/>
          </a:p>
        </p:txBody>
      </p:sp>
      <p:sp>
        <p:nvSpPr>
          <p:cNvPr id="37" name="Shape 25"/>
          <p:cNvSpPr/>
          <p:nvPr/>
        </p:nvSpPr>
        <p:spPr>
          <a:xfrm>
            <a:off x="9829800" y="4864608"/>
            <a:ext cx="1938528" cy="1078992"/>
          </a:xfrm>
          <a:prstGeom prst="roundRect">
            <a:avLst>
              <a:gd name="adj" fmla="val 8475"/>
            </a:avLst>
          </a:prstGeom>
          <a:solidFill>
            <a:srgbClr val="F3F9F5"/>
          </a:solidFill>
          <a:ln w="12700">
            <a:solidFill>
              <a:srgbClr val="DDE7E0"/>
            </a:solidFill>
            <a:prstDash val="solid"/>
          </a:ln>
        </p:spPr>
      </p:sp>
      <p:sp>
        <p:nvSpPr>
          <p:cNvPr id="38" name="Shape 26"/>
          <p:cNvSpPr/>
          <p:nvPr/>
        </p:nvSpPr>
        <p:spPr>
          <a:xfrm>
            <a:off x="10506456" y="5029200"/>
            <a:ext cx="585216" cy="585216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52760" y="5175504"/>
            <a:ext cx="292608" cy="292608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9875520" y="561441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Alerts</a:t>
            </a:r>
            <a:endParaRPr lang="en-US" sz="1150" dirty="0"/>
          </a:p>
        </p:txBody>
      </p:sp>
      <p:sp>
        <p:nvSpPr>
          <p:cNvPr id="41" name="Text 28"/>
          <p:cNvSpPr/>
          <p:nvPr/>
        </p:nvSpPr>
        <p:spPr>
          <a:xfrm>
            <a:off x="11231575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11</a:t>
            </a:r>
            <a:endParaRPr lang="en-US" sz="1100" dirty="0"/>
          </a:p>
        </p:txBody>
      </p:sp>
      <p:sp>
        <p:nvSpPr>
          <p:cNvPr id="42" name="Text 29"/>
          <p:cNvSpPr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6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Plant Vision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-1280160"/>
            <a:ext cx="3108960" cy="310896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029200"/>
            <a:ext cx="2743200" cy="2743200"/>
          </a:xfrm>
          <a:prstGeom prst="ellipse">
            <a:avLst/>
          </a:prstGeom>
          <a:solidFill>
            <a:srgbClr val="52B788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5394960"/>
            <a:ext cx="2194560" cy="2194560"/>
          </a:xfrm>
          <a:prstGeom prst="ellipse">
            <a:avLst/>
          </a:prstGeom>
          <a:solidFill>
            <a:srgbClr val="2D6A4F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1417320" cy="502920"/>
          </a:xfrm>
          <a:prstGeom prst="roundRect">
            <a:avLst>
              <a:gd name="adj" fmla="val 49091"/>
            </a:avLst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1B43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Q &amp; 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 err="1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ขอบคุณครับ</a:t>
            </a:r>
            <a:r>
              <a:rPr lang="en-US" sz="6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6868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B7E4C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Thank You  ·  Questions Welcome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4572000"/>
            <a:ext cx="4114800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PLANT VISION — ระบบตรวจจับสภาพต้นไม้อัจฉริยะ บน Coral Dev Board ด้วย AI และ IoT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1094</Words>
  <Application>Microsoft Office PowerPoint</Application>
  <PresentationFormat>Widescreen</PresentationFormat>
  <Paragraphs>222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Sarabun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 Vision Presentation</dc:title>
  <dc:subject>PptxGenJS Presentation</dc:subject>
  <dc:creator>Plant Vision</dc:creator>
  <cp:lastModifiedBy>Theerasak Wangta</cp:lastModifiedBy>
  <cp:revision>2</cp:revision>
  <dcterms:created xsi:type="dcterms:W3CDTF">2026-05-26T21:52:49Z</dcterms:created>
  <dcterms:modified xsi:type="dcterms:W3CDTF">2026-05-26T23:28:53Z</dcterms:modified>
</cp:coreProperties>
</file>